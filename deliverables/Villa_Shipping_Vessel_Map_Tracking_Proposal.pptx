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SL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567C"/>
          </a:solidFill>
          <a:ln w="12700">
            <a:solidFill>
              <a:srgbClr val="0B56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 SHIPPING LINES, INC.  |  VESSEL MANAGEMENT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680960" y="65105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9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FOR MANAGEMENT DISCUSSION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040880" y="-1645920"/>
            <a:ext cx="6766560" cy="8046720"/>
          </a:xfrm>
          <a:prstGeom prst="ellipse">
            <a:avLst/>
          </a:prstGeom>
          <a:solidFill>
            <a:srgbClr val="087FA7">
              <a:alpha val="88000"/>
            </a:srgbClr>
          </a:solidFill>
          <a:ln w="12700">
            <a:solidFill>
              <a:srgbClr val="087F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7772400" y="-731520"/>
            <a:ext cx="5303520" cy="6492240"/>
          </a:xfrm>
          <a:prstGeom prst="ellipse">
            <a:avLst/>
          </a:prstGeom>
          <a:solidFill>
            <a:srgbClr val="19B8C8">
              <a:alpha val="58000"/>
            </a:srgbClr>
          </a:solidFill>
          <a:ln w="12700">
            <a:solidFill>
              <a:srgbClr val="19B8C8">
                <a:alpha val="0"/>
              </a:srgbClr>
            </a:solidFill>
            <a:prstDash val="solid"/>
          </a:ln>
        </p:spPr>
      </p:sp>
      <p:pic>
        <p:nvPicPr>
          <p:cNvPr id="5" name="Image 0" descr="C:\laragon\www\villa\public\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11480"/>
            <a:ext cx="141732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1463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DDEA"/>
                </a:solidFill>
              </a:rPr>
              <a:t>VESSEL MANAGEMENT ENHANCEMENT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85216" y="1856232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Vessel Voyage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Map Tracking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621792" y="35661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AF5"/>
                </a:solidFill>
              </a:rPr>
              <a:t>A practical, phased proposal for map-based visibility using the existing Voyage and Activity workflow.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" y="4645152"/>
            <a:ext cx="1417320" cy="310896"/>
          </a:xfrm>
          <a:prstGeom prst="roundRect">
            <a:avLst>
              <a:gd name="adj" fmla="val 41176"/>
            </a:avLst>
          </a:prstGeom>
          <a:solidFill>
            <a:srgbClr val="C9952E"/>
          </a:solidFill>
          <a:ln w="12700">
            <a:solidFill>
              <a:srgbClr val="C995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" y="470916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CEO PROPOSAL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792" y="51572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5E6"/>
                </a:solidFill>
              </a:rPr>
              <a:t>Prepared for Management Review  |  14 September 2026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0" y="1417320"/>
            <a:ext cx="4800600" cy="4114800"/>
          </a:xfrm>
          <a:prstGeom prst="roundRect">
            <a:avLst>
              <a:gd name="adj" fmla="val 1778"/>
            </a:avLst>
          </a:prstGeom>
          <a:solidFill>
            <a:srgbClr val="D8EDF4"/>
          </a:solidFill>
          <a:ln w="12700">
            <a:solidFill>
              <a:srgbClr val="A9D2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1080000">
            <a:off x="6903720" y="1874520"/>
            <a:ext cx="1920240" cy="2377440"/>
          </a:xfrm>
          <a:prstGeom prst="ellipse">
            <a:avLst/>
          </a:prstGeom>
          <a:solidFill>
            <a:srgbClr val="DDE5D2"/>
          </a:solidFill>
          <a:ln w="12700">
            <a:solidFill>
              <a:srgbClr val="B7C8A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12600000">
            <a:off x="9464040" y="1554480"/>
            <a:ext cx="1417320" cy="1920240"/>
          </a:xfrm>
          <a:prstGeom prst="ellipse">
            <a:avLst/>
          </a:prstGeom>
          <a:solidFill>
            <a:srgbClr val="DDE5D2"/>
          </a:solidFill>
          <a:ln w="12700">
            <a:solidFill>
              <a:srgbClr val="B7C8A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6720" y="2103120"/>
            <a:ext cx="2011680" cy="2743200"/>
          </a:xfrm>
          <a:prstGeom prst="line">
            <a:avLst/>
          </a:prstGeom>
          <a:noFill/>
          <a:ln w="33020">
            <a:solidFill>
              <a:srgbClr val="087FA7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891272" y="2020824"/>
            <a:ext cx="219456" cy="219456"/>
          </a:xfrm>
          <a:prstGeom prst="ellipse">
            <a:avLst/>
          </a:prstGeom>
          <a:solidFill>
            <a:srgbClr val="178A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70264" y="3364992"/>
            <a:ext cx="219456" cy="219456"/>
          </a:xfrm>
          <a:prstGeom prst="ellipse">
            <a:avLst/>
          </a:prstGeom>
          <a:solidFill>
            <a:srgbClr val="C9952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244584" y="303580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36024" y="3108960"/>
            <a:ext cx="11887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43A"/>
                </a:solidFill>
              </a:rPr>
              <a:t>MV Sample 01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9336024" y="3319272"/>
            <a:ext cx="11887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6677E"/>
                </a:solidFill>
              </a:rPr>
              <a:t>Underway • 10:42 AM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10040112" y="4709160"/>
            <a:ext cx="219456" cy="219456"/>
          </a:xfrm>
          <a:prstGeom prst="ellipse">
            <a:avLst/>
          </a:prstGeom>
          <a:solidFill>
            <a:srgbClr val="C7434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48272" y="5303520"/>
            <a:ext cx="4471416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291A5"/>
                </a:solidFill>
              </a:rPr>
              <a:t>Illustrative interface — not a navigational chart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7406640" y="5760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Villa Shipping Lines, Inc.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645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FA7"/>
                </a:solidFill>
              </a:rPr>
              <a:t>EXECUTIVE SUMMARY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56"/>
                </a:solidFill>
              </a:rPr>
              <a:t>One map for the latest known position of every active voyage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This proposal extends the current system; it does not replace the approved vessel and voyage workflow.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170432"/>
            <a:ext cx="11018520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81328"/>
            <a:ext cx="3566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64208"/>
            <a:ext cx="457200" cy="457200"/>
          </a:xfrm>
          <a:prstGeom prst="ellipse">
            <a:avLst/>
          </a:prstGeom>
          <a:solidFill>
            <a:srgbClr val="174E82"/>
          </a:solidFill>
          <a:ln w="12700">
            <a:solidFill>
              <a:srgbClr val="174E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830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89888" y="1636776"/>
            <a:ext cx="2633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Preserve the current process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89888" y="1938528"/>
            <a:ext cx="26334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Vessel → Voyage → Status → Activity → Completion remains unchanged.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325112" y="1481328"/>
            <a:ext cx="3566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7992" y="1664208"/>
            <a:ext cx="457200" cy="457200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7830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93208" y="1636776"/>
            <a:ext cx="2633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Capture coordinates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93208" y="1938528"/>
            <a:ext cx="26334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Origin, destination and activity updates gain latitude and longitude.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028432" y="1481328"/>
            <a:ext cx="3566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11312" y="1664208"/>
            <a:ext cx="457200" cy="457200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17830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1636776"/>
            <a:ext cx="2633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Display active vessels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96528" y="1938528"/>
            <a:ext cx="26334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The map shows only vessels with an open/current voyage.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21792" y="2880360"/>
            <a:ext cx="6656832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7824" y="31729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087FA7"/>
                </a:solidFill>
              </a:rPr>
              <a:t>MANAGEMENT OUTCOME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77824" y="3456432"/>
            <a:ext cx="580644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56"/>
                </a:solidFill>
              </a:rPr>
              <a:t>Faster operational awareness without introducing a complex tracking platform on day one.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77824" y="4160520"/>
            <a:ext cx="571500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77E"/>
                </a:solidFill>
              </a:rPr>
              <a:t>Managers can open the current-voyage map, identify each vessel’s latest reported position, and open the related voyage details from one screen.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79792" y="2880360"/>
            <a:ext cx="4114800" cy="2395728"/>
          </a:xfrm>
          <a:prstGeom prst="roundRect">
            <a:avLst>
              <a:gd name="adj" fmla="val 3053"/>
            </a:avLst>
          </a:prstGeom>
          <a:solidFill>
            <a:srgbClr val="EAF7F8"/>
          </a:solidFill>
          <a:ln w="11430">
            <a:solidFill>
              <a:srgbClr val="B5E2E7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0" y="31729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D77A14"/>
                </a:solidFill>
              </a:rPr>
              <a:t>IMPORTANT BOUNDARY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772400" y="3529584"/>
            <a:ext cx="33375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56"/>
                </a:solidFill>
              </a:rPr>
              <a:t>Phase 1 is activity-based location monitoring.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0" y="4114800"/>
            <a:ext cx="32461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77E"/>
                </a:solidFill>
              </a:rPr>
              <a:t>It shows the latest position submitted by an authorized user. Continuous automatic tracking requires a future AIS/GPS integration.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645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FA7"/>
                </a:solidFill>
              </a:rPr>
              <a:t>CURRENT SYSTEM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56"/>
                </a:solidFill>
              </a:rPr>
              <a:t>The enhancement connects to the process already in use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No new approval stage is proposed for the initial release.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170432"/>
            <a:ext cx="11018520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572768"/>
            <a:ext cx="1627632" cy="20574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24712" y="1810512"/>
            <a:ext cx="566928" cy="56692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947672"/>
            <a:ext cx="566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" y="25786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56"/>
                </a:solidFill>
              </a:rPr>
              <a:t>Create Vessel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916936"/>
            <a:ext cx="128016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6677E"/>
                </a:solidFill>
              </a:rPr>
              <a:t>System Administrator registers the vessel and assigns a captain.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258568" y="2423160"/>
            <a:ext cx="201168" cy="329184"/>
          </a:xfrm>
          <a:prstGeom prst="chevron">
            <a:avLst/>
          </a:prstGeom>
          <a:solidFill>
            <a:srgbClr val="A9BACB"/>
          </a:solidFill>
          <a:ln w="12700">
            <a:solidFill>
              <a:srgbClr val="A9B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05456" y="1572768"/>
            <a:ext cx="1627632" cy="20574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26664" y="1810512"/>
            <a:ext cx="566928" cy="56692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26664" y="1947672"/>
            <a:ext cx="566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42616" y="25786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56"/>
                </a:solidFill>
              </a:rPr>
              <a:t>Create Voyage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79192" y="2916936"/>
            <a:ext cx="128016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6677E"/>
                </a:solidFill>
              </a:rPr>
              <a:t>Authorized user records cargo, ports, crew and beginning Fuel ROB.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160520" y="2423160"/>
            <a:ext cx="201168" cy="329184"/>
          </a:xfrm>
          <a:prstGeom prst="chevron">
            <a:avLst/>
          </a:prstGeom>
          <a:solidFill>
            <a:srgbClr val="A9BACB"/>
          </a:solidFill>
          <a:ln w="12700">
            <a:solidFill>
              <a:srgbClr val="A9BA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7408" y="1572768"/>
            <a:ext cx="1627632" cy="20574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28616" y="1810512"/>
            <a:ext cx="566928" cy="56692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1947672"/>
            <a:ext cx="566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44568" y="25786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56"/>
                </a:solidFill>
              </a:rPr>
              <a:t>Add Status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81144" y="2916936"/>
            <a:ext cx="128016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6677E"/>
                </a:solidFill>
              </a:rPr>
              <a:t>The current operational phase is opened.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062472" y="2423160"/>
            <a:ext cx="201168" cy="329184"/>
          </a:xfrm>
          <a:prstGeom prst="chevron">
            <a:avLst/>
          </a:prstGeom>
          <a:solidFill>
            <a:srgbClr val="A9BACB"/>
          </a:solidFill>
          <a:ln w="12700">
            <a:solidFill>
              <a:srgbClr val="A9BA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572768"/>
            <a:ext cx="1627632" cy="2057400"/>
          </a:xfrm>
          <a:prstGeom prst="roundRect">
            <a:avLst>
              <a:gd name="adj" fmla="val 4494"/>
            </a:avLst>
          </a:prstGeom>
          <a:solidFill>
            <a:srgbClr val="E8F7F9"/>
          </a:solidFill>
          <a:ln w="11430">
            <a:solidFill>
              <a:srgbClr val="79CBD6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30568" y="1810512"/>
            <a:ext cx="566928" cy="566928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1947672"/>
            <a:ext cx="566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25786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56"/>
                </a:solidFill>
              </a:rPr>
              <a:t>Add Activity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83096" y="2916936"/>
            <a:ext cx="128016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6677E"/>
                </a:solidFill>
              </a:rPr>
              <a:t>The user records work, port/location and operational remarks.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964424" y="2423160"/>
            <a:ext cx="201168" cy="329184"/>
          </a:xfrm>
          <a:prstGeom prst="chevron">
            <a:avLst/>
          </a:prstGeom>
          <a:solidFill>
            <a:srgbClr val="A9BACB"/>
          </a:solidFill>
          <a:ln w="12700">
            <a:solidFill>
              <a:srgbClr val="A9BAC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11312" y="1572768"/>
            <a:ext cx="1627632" cy="20574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732520" y="1810512"/>
            <a:ext cx="566928" cy="56692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2520" y="1947672"/>
            <a:ext cx="566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48472" y="25786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56"/>
                </a:solidFill>
              </a:rPr>
              <a:t>Update Fuel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85048" y="2916936"/>
            <a:ext cx="128016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6677E"/>
                </a:solidFill>
              </a:rPr>
              <a:t>Consumption and bunkering update the remaining Fuel ROB.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9866376" y="2423160"/>
            <a:ext cx="201168" cy="329184"/>
          </a:xfrm>
          <a:prstGeom prst="chevron">
            <a:avLst/>
          </a:prstGeom>
          <a:solidFill>
            <a:srgbClr val="A9BACB"/>
          </a:solidFill>
          <a:ln w="12700">
            <a:solidFill>
              <a:srgbClr val="A9BAC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13264" y="1572768"/>
            <a:ext cx="1627632" cy="20574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634472" y="1810512"/>
            <a:ext cx="566928" cy="56692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34472" y="1947672"/>
            <a:ext cx="566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250424" y="25786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56"/>
                </a:solidFill>
              </a:rPr>
              <a:t>Complete Voyage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287000" y="2916936"/>
            <a:ext cx="128016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6677E"/>
                </a:solidFill>
              </a:rPr>
              <a:t>All statuses are completed before the voyage is closed.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21792" y="3977640"/>
            <a:ext cx="10972800" cy="1353312"/>
          </a:xfrm>
          <a:prstGeom prst="roundRect">
            <a:avLst>
              <a:gd name="adj" fmla="val 5405"/>
            </a:avLst>
          </a:prstGeom>
          <a:solidFill>
            <a:srgbClr val="102A56"/>
          </a:solidFill>
          <a:ln w="11430">
            <a:solidFill>
              <a:srgbClr val="102A56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96112" y="427939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75DCE7"/>
                </a:solidFill>
              </a:rPr>
              <a:t>PROPOSED INSERTION POINT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96112" y="4572000"/>
            <a:ext cx="690372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Coordinates are captured during Create Voyage and each Add Activity update.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8275320" y="4370832"/>
            <a:ext cx="278892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5E6F2"/>
                </a:solidFill>
              </a:rPr>
              <a:t>The operational workflow stays familiar to vessel personnel.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645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FA7"/>
                </a:solidFill>
              </a:rPr>
              <a:t>WHY THIS MATTERS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56"/>
                </a:solidFill>
              </a:rPr>
              <a:t>Current location data exists—but it is not yet spatial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Port and location names are stored today; coordinates and map visualization are not.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170432"/>
            <a:ext cx="11018520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264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C74343"/>
                </a:solidFill>
              </a:rPr>
              <a:t>CURRENT LIMITATION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309360" y="14264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8A64"/>
                </a:solidFill>
              </a:rPr>
              <a:t>PROPOSED CAPABILITY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938528"/>
            <a:ext cx="457200" cy="457200"/>
          </a:xfrm>
          <a:prstGeom prst="ellipse">
            <a:avLst/>
          </a:prstGeom>
          <a:solidFill>
            <a:srgbClr val="C74343"/>
          </a:solidFill>
          <a:ln w="12700">
            <a:solidFill>
              <a:srgbClr val="C743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574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08176" y="1911096"/>
            <a:ext cx="427939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Text-only location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08176" y="2212848"/>
            <a:ext cx="427939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Managers must open individual voyage records and interpret location names.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C74343"/>
          </a:solidFill>
          <a:ln w="12700">
            <a:solidFill>
              <a:srgbClr val="C743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192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08176" y="3172968"/>
            <a:ext cx="427939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No fleet map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08176" y="3474720"/>
            <a:ext cx="427939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There is no consolidated visual view of vessels with active voyages.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40080" y="4279392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462272"/>
            <a:ext cx="457200" cy="457200"/>
          </a:xfrm>
          <a:prstGeom prst="ellipse">
            <a:avLst/>
          </a:prstGeom>
          <a:solidFill>
            <a:srgbClr val="C74343"/>
          </a:solidFill>
          <a:ln w="12700">
            <a:solidFill>
              <a:srgbClr val="C743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5811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08176" y="4434840"/>
            <a:ext cx="427939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Limited history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08176" y="4736592"/>
            <a:ext cx="427939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Activity locations are stored as text, not as auditable geographic points.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91072" y="1755648"/>
            <a:ext cx="52852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73952" y="1938528"/>
            <a:ext cx="457200" cy="457200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20574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59168" y="1911096"/>
            <a:ext cx="435254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At-a-glance visibility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59168" y="2212848"/>
            <a:ext cx="4352544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See the latest reported fleet position on one map.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291072" y="3017520"/>
            <a:ext cx="52852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73952" y="3200400"/>
            <a:ext cx="457200" cy="457200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33192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59168" y="3172968"/>
            <a:ext cx="435254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Faster follow-up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59168" y="3474720"/>
            <a:ext cx="4352544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Open the current voyage and latest activity directly from a marker.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291072" y="4279392"/>
            <a:ext cx="52852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73952" y="4462272"/>
            <a:ext cx="457200" cy="457200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45811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59168" y="4434840"/>
            <a:ext cx="435254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Foundation for automation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59168" y="4736592"/>
            <a:ext cx="4352544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Position history prepares the system for future AIS/GPS integration.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645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FA7"/>
                </a:solidFill>
              </a:rPr>
              <a:t>PROPOSED SOLUTION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56"/>
                </a:solidFill>
              </a:rPr>
              <a:t>Three coordinated capabilities inside Vessel Management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The design is intentionally simple for vessel personnel and useful for management.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170432"/>
            <a:ext cx="11018520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3246120" cy="40690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1737360"/>
            <a:ext cx="566928" cy="310896"/>
          </a:xfrm>
          <a:prstGeom prst="roundRect">
            <a:avLst>
              <a:gd name="adj" fmla="val 41176"/>
            </a:avLst>
          </a:prstGeom>
          <a:solidFill>
            <a:srgbClr val="174E82"/>
          </a:solidFill>
          <a:ln w="12700">
            <a:solidFill>
              <a:srgbClr val="174E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80136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77824" y="2267712"/>
            <a:ext cx="269748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56"/>
                </a:solidFill>
              </a:rPr>
              <a:t>Map-enabled voyage setup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127248"/>
            <a:ext cx="155448" cy="155448"/>
          </a:xfrm>
          <a:prstGeom prst="ellipse">
            <a:avLst/>
          </a:prstGeom>
          <a:solidFill>
            <a:srgbClr val="174E82"/>
          </a:solidFill>
          <a:ln w="12700">
            <a:solidFill>
              <a:srgbClr val="174E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44952"/>
            <a:ext cx="235915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Plot origin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602736"/>
            <a:ext cx="155448" cy="155448"/>
          </a:xfrm>
          <a:prstGeom prst="ellipse">
            <a:avLst/>
          </a:prstGeom>
          <a:solidFill>
            <a:srgbClr val="174E82"/>
          </a:solidFill>
          <a:ln w="12700">
            <a:solidFill>
              <a:srgbClr val="174E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520440"/>
            <a:ext cx="235915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Plot destination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4078224"/>
            <a:ext cx="155448" cy="155448"/>
          </a:xfrm>
          <a:prstGeom prst="ellipse">
            <a:avLst/>
          </a:prstGeom>
          <a:solidFill>
            <a:srgbClr val="174E82"/>
          </a:solidFill>
          <a:ln w="12700">
            <a:solidFill>
              <a:srgbClr val="174E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995928"/>
            <a:ext cx="235915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Set initial current position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553712"/>
            <a:ext cx="155448" cy="155448"/>
          </a:xfrm>
          <a:prstGeom prst="ellipse">
            <a:avLst/>
          </a:prstGeom>
          <a:solidFill>
            <a:srgbClr val="174E82"/>
          </a:solidFill>
          <a:ln w="12700">
            <a:solidFill>
              <a:srgbClr val="174E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4471416"/>
            <a:ext cx="235915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Retain existing port selections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6112" y="5120640"/>
            <a:ext cx="25603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8291A5"/>
                </a:solidFill>
              </a:rPr>
              <a:t>Voyage origin data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4160520" y="1463040"/>
            <a:ext cx="3246120" cy="40690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98264" y="1737360"/>
            <a:ext cx="566928" cy="310896"/>
          </a:xfrm>
          <a:prstGeom prst="roundRect">
            <a:avLst>
              <a:gd name="adj" fmla="val 41176"/>
            </a:avLst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1416" y="180136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98264" y="2267712"/>
            <a:ext cx="269748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56"/>
                </a:solidFill>
              </a:rPr>
              <a:t>Position update in activity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434840" y="3127248"/>
            <a:ext cx="155448" cy="155448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3044952"/>
            <a:ext cx="235915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Use device GPS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34840" y="3602736"/>
            <a:ext cx="155448" cy="155448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3520440"/>
            <a:ext cx="235915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Search a place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34840" y="4078224"/>
            <a:ext cx="155448" cy="155448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3995928"/>
            <a:ext cx="235915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Drop a map pin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34840" y="4553712"/>
            <a:ext cx="155448" cy="155448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4471416"/>
            <a:ext cx="235915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Enter coordinates manually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16552" y="5120640"/>
            <a:ext cx="25603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8291A5"/>
                </a:solidFill>
              </a:rPr>
              <a:t>Operational update point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7680960" y="1463040"/>
            <a:ext cx="3246120" cy="40690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918704" y="1737360"/>
            <a:ext cx="566928" cy="310896"/>
          </a:xfrm>
          <a:prstGeom prst="roundRect">
            <a:avLst>
              <a:gd name="adj" fmla="val 41176"/>
            </a:avLst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91856" y="180136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18704" y="2267712"/>
            <a:ext cx="269748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56"/>
                </a:solidFill>
              </a:rPr>
              <a:t>Current-voyage fleet map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955280" y="3127248"/>
            <a:ext cx="155448" cy="155448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11312" y="3044952"/>
            <a:ext cx="235915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Active voyages only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955280" y="3602736"/>
            <a:ext cx="155448" cy="155448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11312" y="3520440"/>
            <a:ext cx="235915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Latest position per vessel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955280" y="4078224"/>
            <a:ext cx="155448" cy="155448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11312" y="3995928"/>
            <a:ext cx="235915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Last update timestamp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955280" y="4553712"/>
            <a:ext cx="155448" cy="155448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11312" y="4471416"/>
            <a:ext cx="235915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One-click voyage details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936992" y="5120640"/>
            <a:ext cx="25603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8291A5"/>
                </a:solidFill>
              </a:rPr>
              <a:t>Management visibility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645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FA7"/>
                </a:solidFill>
              </a:rPr>
              <a:t>POSITION CAPTURE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56"/>
                </a:solidFill>
              </a:rPr>
              <a:t>Flexible input supports both port and at-sea updates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Every saved position records its source, author and timestamp.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170432"/>
            <a:ext cx="11018520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7099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087FA7"/>
                </a:solidFill>
              </a:rPr>
              <a:t>RECOMMENDED USER INTERFACE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1097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6677E"/>
                </a:solidFill>
              </a:rPr>
              <a:t>Search port or location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F5F8FC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43200"/>
            <a:ext cx="1097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6677E"/>
                </a:solidFill>
              </a:rPr>
              <a:t>Latitude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2944368"/>
            <a:ext cx="1344168" cy="347472"/>
          </a:xfrm>
          <a:prstGeom prst="roundRect">
            <a:avLst>
              <a:gd name="adj" fmla="val 13158"/>
            </a:avLst>
          </a:prstGeom>
          <a:solidFill>
            <a:srgbClr val="F5F8FC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04872" y="2944368"/>
            <a:ext cx="1344168" cy="347472"/>
          </a:xfrm>
          <a:prstGeom prst="roundRect">
            <a:avLst>
              <a:gd name="adj" fmla="val 13158"/>
            </a:avLst>
          </a:prstGeom>
          <a:solidFill>
            <a:srgbClr val="F5F8FC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01568"/>
            <a:ext cx="1097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6677E"/>
                </a:solidFill>
              </a:rPr>
              <a:t>Longitude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3602736"/>
            <a:ext cx="1344168" cy="347472"/>
          </a:xfrm>
          <a:prstGeom prst="roundRect">
            <a:avLst>
              <a:gd name="adj" fmla="val 13158"/>
            </a:avLst>
          </a:prstGeom>
          <a:solidFill>
            <a:srgbClr val="F5F8FC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3602736"/>
            <a:ext cx="1344168" cy="347472"/>
          </a:xfrm>
          <a:prstGeom prst="roundRect">
            <a:avLst>
              <a:gd name="adj" fmla="val 13158"/>
            </a:avLst>
          </a:prstGeom>
          <a:solidFill>
            <a:srgbClr val="F5F8FC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389120"/>
            <a:ext cx="2057400" cy="310896"/>
          </a:xfrm>
          <a:prstGeom prst="roundRect">
            <a:avLst>
              <a:gd name="adj" fmla="val 41176"/>
            </a:avLst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453128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USE MY CURRENT LOCATION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063240" y="4389120"/>
            <a:ext cx="1143000" cy="310896"/>
          </a:xfrm>
          <a:prstGeom prst="roundRect">
            <a:avLst>
              <a:gd name="adj" fmla="val 41176"/>
            </a:avLst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6392" y="445312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DROP PIN ON MAP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4956048"/>
            <a:ext cx="2880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6677E"/>
                </a:solidFill>
              </a:rPr>
              <a:t>Manual entry remains available when GPS or search is unavailable.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617720" y="1481328"/>
            <a:ext cx="6903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664208"/>
            <a:ext cx="457200" cy="457200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7830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85816" y="1636776"/>
            <a:ext cx="59710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Device GPS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85816" y="1938528"/>
            <a:ext cx="597103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Fastest on mobile. Requires HTTPS and the user’s location permission.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617720" y="2834640"/>
            <a:ext cx="6903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017520"/>
            <a:ext cx="457200" cy="457200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1363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85816" y="2990088"/>
            <a:ext cx="59710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Map search / pin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85816" y="3291840"/>
            <a:ext cx="597103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Best for a known place or a position selected visually.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4617720" y="4187952"/>
            <a:ext cx="6903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4370832"/>
            <a:ext cx="457200" cy="457200"/>
          </a:xfrm>
          <a:prstGeom prst="ellipse">
            <a:avLst/>
          </a:prstGeom>
          <a:solidFill>
            <a:srgbClr val="C9952E"/>
          </a:solidFill>
          <a:ln w="12700">
            <a:solidFill>
              <a:srgbClr val="C995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4897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85816" y="4343400"/>
            <a:ext cx="59710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Manual coordinates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85816" y="4645152"/>
            <a:ext cx="597103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Operational fallback for coordinates obtained from bridge instruments.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4617720" y="5458968"/>
            <a:ext cx="6903720" cy="438912"/>
          </a:xfrm>
          <a:prstGeom prst="roundRect">
            <a:avLst>
              <a:gd name="adj" fmla="val 16667"/>
            </a:avLst>
          </a:prstGeom>
          <a:solidFill>
            <a:srgbClr val="FFF6E8"/>
          </a:solidFill>
          <a:ln w="11430">
            <a:solidFill>
              <a:srgbClr val="F0D6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5568696"/>
            <a:ext cx="64008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D77A14"/>
                </a:solidFill>
              </a:rPr>
              <a:t>Validation: latitude −90 to 90 • longitude −180 to 180 • timestamp required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645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FA7"/>
                </a:solidFill>
              </a:rPr>
              <a:t>ILLUSTRATIVE DASHBOARD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56"/>
                </a:solidFill>
              </a:rPr>
              <a:t>Current Voyage Map — one marker per active vessel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Only the latest recorded position for an open voyage is displayed by default.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170432"/>
            <a:ext cx="11018520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371600"/>
            <a:ext cx="10991088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81912"/>
            <a:ext cx="2487168" cy="384048"/>
          </a:xfrm>
          <a:prstGeom prst="roundRect">
            <a:avLst>
              <a:gd name="adj" fmla="val 11905"/>
            </a:avLst>
          </a:prstGeom>
          <a:solidFill>
            <a:srgbClr val="F5F8FC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682496"/>
            <a:ext cx="201168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291A5"/>
                </a:solidFill>
              </a:rPr>
              <a:t>Search vessel or voyage…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93008" y="1609344"/>
            <a:ext cx="1325880" cy="310896"/>
          </a:xfrm>
          <a:prstGeom prst="roundRect">
            <a:avLst>
              <a:gd name="adj" fmla="val 41176"/>
            </a:avLst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673352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 ACTIVE VOYAGES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956048" y="1609344"/>
            <a:ext cx="1444752" cy="310896"/>
          </a:xfrm>
          <a:prstGeom prst="roundRect">
            <a:avLst>
              <a:gd name="adj" fmla="val 41176"/>
            </a:avLst>
          </a:prstGeom>
          <a:solidFill>
            <a:srgbClr val="174E82"/>
          </a:solidFill>
          <a:ln w="12700">
            <a:solidFill>
              <a:srgbClr val="174E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673352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LAST REFRESH 10:45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22960" y="2103120"/>
            <a:ext cx="7452360" cy="3429000"/>
          </a:xfrm>
          <a:prstGeom prst="roundRect">
            <a:avLst>
              <a:gd name="adj" fmla="val 2133"/>
            </a:avLst>
          </a:prstGeom>
          <a:solidFill>
            <a:srgbClr val="D8EDF4"/>
          </a:solidFill>
          <a:ln w="12700">
            <a:solidFill>
              <a:srgbClr val="A9D2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">
            <a:off x="1143000" y="2560320"/>
            <a:ext cx="1920240" cy="2377440"/>
          </a:xfrm>
          <a:prstGeom prst="ellipse">
            <a:avLst/>
          </a:prstGeom>
          <a:solidFill>
            <a:srgbClr val="DDE5D2"/>
          </a:solidFill>
          <a:ln w="12700">
            <a:solidFill>
              <a:srgbClr val="B7C8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2600000">
            <a:off x="6355080" y="2240280"/>
            <a:ext cx="1417320" cy="1920240"/>
          </a:xfrm>
          <a:prstGeom prst="ellipse">
            <a:avLst/>
          </a:prstGeom>
          <a:solidFill>
            <a:srgbClr val="DDE5D2"/>
          </a:solidFill>
          <a:ln w="12700">
            <a:solidFill>
              <a:srgbClr val="B7C8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88920"/>
            <a:ext cx="4663440" cy="2057400"/>
          </a:xfrm>
          <a:prstGeom prst="line">
            <a:avLst/>
          </a:prstGeom>
          <a:noFill/>
          <a:ln w="33020">
            <a:solidFill>
              <a:srgbClr val="087FA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30552" y="2706624"/>
            <a:ext cx="219456" cy="219456"/>
          </a:xfrm>
          <a:prstGeom prst="ellipse">
            <a:avLst/>
          </a:prstGeom>
          <a:solidFill>
            <a:srgbClr val="178A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88459" y="3707892"/>
            <a:ext cx="219456" cy="219456"/>
          </a:xfrm>
          <a:prstGeom prst="ellipse">
            <a:avLst/>
          </a:prstGeom>
          <a:solidFill>
            <a:srgbClr val="C9952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2779" y="337870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4219" y="3451860"/>
            <a:ext cx="11887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8243A"/>
                </a:solidFill>
              </a:rPr>
              <a:t>MV Sample 01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954219" y="3662172"/>
            <a:ext cx="11887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6677E"/>
                </a:solidFill>
              </a:rPr>
              <a:t>Underway • 10:42 AM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6931152" y="4709160"/>
            <a:ext cx="219456" cy="219456"/>
          </a:xfrm>
          <a:prstGeom prst="ellipse">
            <a:avLst/>
          </a:prstGeom>
          <a:solidFill>
            <a:srgbClr val="C7434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303520"/>
            <a:ext cx="7123176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291A5"/>
                </a:solidFill>
              </a:rPr>
              <a:t>Illustrative interface — not a navigational chart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8503920" y="2103120"/>
            <a:ext cx="2852928" cy="3429000"/>
          </a:xfrm>
          <a:prstGeom prst="roundRect">
            <a:avLst>
              <a:gd name="adj" fmla="val 2564"/>
            </a:avLst>
          </a:prstGeom>
          <a:solidFill>
            <a:srgbClr val="F5F8FC"/>
          </a:solidFill>
          <a:ln w="11430">
            <a:solidFill>
              <a:srgbClr val="D9E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59952" y="23774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087FA7"/>
                </a:solidFill>
              </a:rPr>
              <a:t>SELECTED VESSEL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759952" y="2679192"/>
            <a:ext cx="2240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56"/>
                </a:solidFill>
              </a:rPr>
              <a:t>MV SAMPLE 01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759952" y="3099816"/>
            <a:ext cx="868680" cy="310896"/>
          </a:xfrm>
          <a:prstGeom prst="roundRect">
            <a:avLst>
              <a:gd name="adj" fmla="val 41176"/>
            </a:avLst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33104" y="3163824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UNDERWAY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759952" y="3575304"/>
            <a:ext cx="822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8291A5"/>
                </a:solidFill>
              </a:rPr>
              <a:t>Voyage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9601200" y="3538728"/>
            <a:ext cx="1417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8243A"/>
                </a:solidFill>
              </a:rPr>
              <a:t>VL-00048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759952" y="3968496"/>
            <a:ext cx="822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8291A5"/>
                </a:solidFill>
              </a:rPr>
              <a:t>Latest activity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9601200" y="3931920"/>
            <a:ext cx="1417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8243A"/>
                </a:solidFill>
              </a:rPr>
              <a:t>Departed Cebu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759952" y="4361688"/>
            <a:ext cx="822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8291A5"/>
                </a:solidFill>
              </a:rPr>
              <a:t>Position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9601200" y="4325112"/>
            <a:ext cx="1417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8243A"/>
                </a:solidFill>
              </a:rPr>
              <a:t>10.3157, 124.8421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759952" y="4754880"/>
            <a:ext cx="8229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8291A5"/>
                </a:solidFill>
              </a:rPr>
              <a:t>Updated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9601200" y="4718304"/>
            <a:ext cx="1417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8243A"/>
                </a:solidFill>
              </a:rPr>
              <a:t>10:42 AM • Capt. Dela Cruz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759952" y="5084064"/>
            <a:ext cx="1965960" cy="310896"/>
          </a:xfrm>
          <a:prstGeom prst="roundRect">
            <a:avLst>
              <a:gd name="adj" fmla="val 41176"/>
            </a:avLst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33104" y="514807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OPEN VOYAGE DETAILS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645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FA7"/>
                </a:solidFill>
              </a:rPr>
              <a:t>ACCESS AND ACCOUNTABILITY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56"/>
                </a:solidFill>
              </a:rPr>
              <a:t>Visibility follows the existing company, position and vessel assignment rules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Location features inherit the same controlled access used by Vessel Management and Voyages.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170432"/>
            <a:ext cx="11018520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17320"/>
            <a:ext cx="73152" cy="64008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527048"/>
            <a:ext cx="24231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56"/>
                </a:solidFill>
              </a:rPr>
              <a:t>System Administrator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66160" y="1527048"/>
            <a:ext cx="20116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A56"/>
                </a:solidFill>
              </a:rPr>
              <a:t>All vessels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42432" y="1508760"/>
            <a:ext cx="516636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6677E"/>
                </a:solidFill>
              </a:rPr>
              <a:t>Configuration, oversight and troubleshooting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" y="22402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8FAFD"/>
          </a:solidFill>
          <a:ln w="11430">
            <a:solidFill>
              <a:srgbClr val="D9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240280"/>
            <a:ext cx="73152" cy="640080"/>
          </a:xfrm>
          <a:prstGeom prst="rect">
            <a:avLst/>
          </a:prstGeom>
          <a:solidFill>
            <a:srgbClr val="174E82"/>
          </a:solidFill>
          <a:ln w="12700">
            <a:solidFill>
              <a:srgbClr val="174E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350008"/>
            <a:ext cx="24231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56"/>
                </a:solidFill>
              </a:rPr>
              <a:t>Operations / Vessel Manager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66160" y="2350008"/>
            <a:ext cx="20116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4E82"/>
                </a:solidFill>
              </a:rPr>
              <a:t>All active voyages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42432" y="2331720"/>
            <a:ext cx="516636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6677E"/>
                </a:solidFill>
              </a:rPr>
              <a:t>View fleet map and record operational updates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306324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063240"/>
            <a:ext cx="73152" cy="640080"/>
          </a:xfrm>
          <a:prstGeom prst="rect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172968"/>
            <a:ext cx="24231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56"/>
                </a:solidFill>
              </a:rPr>
              <a:t>Technical Manager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172968"/>
            <a:ext cx="20116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87FA7"/>
                </a:solidFill>
              </a:rPr>
              <a:t>All authorized vessels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42432" y="3154680"/>
            <a:ext cx="516636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6677E"/>
                </a:solidFill>
              </a:rPr>
              <a:t>View map and support operational coordination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388620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8FAFD"/>
          </a:solidFill>
          <a:ln w="11430">
            <a:solidFill>
              <a:srgbClr val="D9E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886200"/>
            <a:ext cx="73152" cy="640080"/>
          </a:xfrm>
          <a:prstGeom prst="rect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3995928"/>
            <a:ext cx="24231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56"/>
                </a:solidFill>
              </a:rPr>
              <a:t>Vessel Captain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66160" y="3995928"/>
            <a:ext cx="20116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8A64"/>
                </a:solidFill>
              </a:rPr>
              <a:t>Assigned vessel only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42432" y="3977640"/>
            <a:ext cx="516636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6677E"/>
                </a:solidFill>
              </a:rPr>
              <a:t>Create voyage and submit current position updates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" y="470916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709160"/>
            <a:ext cx="73152" cy="640080"/>
          </a:xfrm>
          <a:prstGeom prst="rect">
            <a:avLst/>
          </a:prstGeom>
          <a:solidFill>
            <a:srgbClr val="C9952E"/>
          </a:solidFill>
          <a:ln w="12700">
            <a:solidFill>
              <a:srgbClr val="C995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4818888"/>
            <a:ext cx="24231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56"/>
                </a:solidFill>
              </a:rPr>
              <a:t>Executive Viewer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566160" y="4818888"/>
            <a:ext cx="20116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9952E"/>
                </a:solidFill>
              </a:rPr>
              <a:t>Read-only fleet view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42432" y="4800600"/>
            <a:ext cx="516636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6677E"/>
                </a:solidFill>
              </a:rPr>
              <a:t>Management visibility without operational editing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" y="5614416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FFF6E8"/>
          </a:solidFill>
          <a:ln w="11430">
            <a:solidFill>
              <a:srgbClr val="F0D6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5715000"/>
            <a:ext cx="102412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D77A14"/>
                </a:solidFill>
              </a:rPr>
              <a:t>Every position update is attributed to a user and timestamp for auditability.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645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FA7"/>
                </a:solidFill>
              </a:rPr>
              <a:t>SYSTEM INTEGRATION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56"/>
                </a:solidFill>
              </a:rPr>
              <a:t>The map is built on current records plus one position-history table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Existing operational data remains intact; new coordinate fields are nullable for legacy records.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170432"/>
            <a:ext cx="11018520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828800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6656" y="1828800"/>
            <a:ext cx="1920240" cy="91440"/>
          </a:xfrm>
          <a:prstGeom prst="rect">
            <a:avLst/>
          </a:prstGeom>
          <a:solidFill>
            <a:srgbClr val="174E82"/>
          </a:solidFill>
          <a:ln w="12700">
            <a:solidFill>
              <a:srgbClr val="174E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148840"/>
            <a:ext cx="151790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56"/>
                </a:solidFill>
              </a:rPr>
              <a:t>PORTS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7824" y="2523744"/>
            <a:ext cx="151790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6677E"/>
                </a:solidFill>
              </a:rPr>
              <a:t>Master coordinates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88336" y="2304288"/>
            <a:ext cx="320040" cy="384048"/>
          </a:xfrm>
          <a:prstGeom prst="chevron">
            <a:avLst/>
          </a:prstGeom>
          <a:solidFill>
            <a:srgbClr val="A8BACD"/>
          </a:solidFill>
          <a:ln w="12700">
            <a:solidFill>
              <a:srgbClr val="A8BA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1828800"/>
            <a:ext cx="2286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44368" y="1828800"/>
            <a:ext cx="2286000" cy="91440"/>
          </a:xfrm>
          <a:prstGeom prst="rect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2148840"/>
            <a:ext cx="188366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56"/>
                </a:solidFill>
              </a:rPr>
              <a:t>VOYAGE HEADER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45536" y="2523744"/>
            <a:ext cx="188366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6677E"/>
                </a:solidFill>
              </a:rPr>
              <a:t>Current / origin / destination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21808" y="2304288"/>
            <a:ext cx="320040" cy="384048"/>
          </a:xfrm>
          <a:prstGeom prst="chevron">
            <a:avLst/>
          </a:prstGeom>
          <a:solidFill>
            <a:srgbClr val="A8BACD"/>
          </a:solidFill>
          <a:ln w="12700">
            <a:solidFill>
              <a:srgbClr val="A8BAC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1828800"/>
            <a:ext cx="2286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23560" y="1828800"/>
            <a:ext cx="2286000" cy="91440"/>
          </a:xfrm>
          <a:prstGeom prst="rect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24728" y="2148840"/>
            <a:ext cx="188366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56"/>
                </a:solidFill>
              </a:rPr>
              <a:t>VOYAGE ACTIVITY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824728" y="2523744"/>
            <a:ext cx="188366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6677E"/>
                </a:solidFill>
              </a:rPr>
              <a:t>Operational update point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01000" y="2304288"/>
            <a:ext cx="320040" cy="384048"/>
          </a:xfrm>
          <a:prstGeom prst="chevron">
            <a:avLst/>
          </a:prstGeom>
          <a:solidFill>
            <a:srgbClr val="A8BACD"/>
          </a:solidFill>
          <a:ln w="12700">
            <a:solidFill>
              <a:srgbClr val="A8BA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1828800"/>
            <a:ext cx="2286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02752" y="1828800"/>
            <a:ext cx="2286000" cy="91440"/>
          </a:xfrm>
          <a:prstGeom prst="rect">
            <a:avLst/>
          </a:prstGeom>
          <a:solidFill>
            <a:srgbClr val="C9952E"/>
          </a:solidFill>
          <a:ln w="12700">
            <a:solidFill>
              <a:srgbClr val="C995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2148840"/>
            <a:ext cx="188366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56"/>
                </a:solidFill>
              </a:rPr>
              <a:t>POSITION LOGS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03920" y="2523744"/>
            <a:ext cx="188366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6677E"/>
                </a:solidFill>
              </a:rPr>
              <a:t>Immutable geographic history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" y="3675888"/>
            <a:ext cx="51663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" y="39684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087FA7"/>
                </a:solidFill>
              </a:rPr>
              <a:t>NEW COORDINATE DATA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32688" y="4315968"/>
            <a:ext cx="4425696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56"/>
                </a:solidFill>
              </a:rPr>
              <a:t>Latitude • Longitude • Accuracy • Source • Recorded by • Recorded at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80760" y="3675888"/>
            <a:ext cx="5257800" cy="1481328"/>
          </a:xfrm>
          <a:prstGeom prst="roundRect">
            <a:avLst>
              <a:gd name="adj" fmla="val 4938"/>
            </a:avLst>
          </a:prstGeom>
          <a:solidFill>
            <a:srgbClr val="EAF7F8"/>
          </a:solidFill>
          <a:ln w="11430">
            <a:solidFill>
              <a:srgbClr val="B5E2E7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45936" y="39684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8A64"/>
                </a:solidFill>
              </a:rPr>
              <a:t>LEGACY DATA PROTECTION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45936" y="4288536"/>
            <a:ext cx="4443984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56"/>
                </a:solidFill>
              </a:rPr>
              <a:t>No existing voyage, activity, fuel or vessel record needs to be deleted or rewritten.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645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FA7"/>
                </a:solidFill>
              </a:rPr>
              <a:t>TRACKING MATURITY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56"/>
                </a:solidFill>
              </a:rPr>
              <a:t>Start practical, then automate when the business case is proven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The initial release establishes usable visibility and the data foundation for later upgrades.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170432"/>
            <a:ext cx="11018520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81328"/>
            <a:ext cx="3429000" cy="4041648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8ED6B9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783080"/>
            <a:ext cx="868680" cy="310896"/>
          </a:xfrm>
          <a:prstGeom prst="roundRect">
            <a:avLst>
              <a:gd name="adj" fmla="val 41176"/>
            </a:avLst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847088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2304288"/>
            <a:ext cx="278892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56"/>
                </a:solidFill>
              </a:rPr>
              <a:t>Activity-based monitoring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090672"/>
            <a:ext cx="2788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Position saved during voyage creation and activity updates.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4005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087FA7"/>
                </a:solidFill>
              </a:rPr>
              <a:t>DATA BEHAVIOR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2697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243A"/>
                </a:solidFill>
              </a:rPr>
              <a:t>Human-confirmed updates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1600200" cy="310896"/>
          </a:xfrm>
          <a:prstGeom prst="roundRect">
            <a:avLst>
              <a:gd name="adj" fmla="val 41176"/>
            </a:avLst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956048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RECOMMENDED NOW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07408" y="1481328"/>
            <a:ext cx="3429000" cy="4041648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783080"/>
            <a:ext cx="868680" cy="310896"/>
          </a:xfrm>
          <a:prstGeom prst="roundRect">
            <a:avLst>
              <a:gd name="adj" fmla="val 41176"/>
            </a:avLst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847088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3440" y="2304288"/>
            <a:ext cx="278892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56"/>
                </a:solidFill>
              </a:rPr>
              <a:t>Device-assisted updates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63440" y="3090672"/>
            <a:ext cx="2788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Browser GPS simplifies reporting from an authorized mobile device.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4005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087FA7"/>
                </a:solidFill>
              </a:rPr>
              <a:t>DATA BEHAVIOR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63440" y="4297680"/>
            <a:ext cx="2697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243A"/>
                </a:solidFill>
              </a:rPr>
              <a:t>User permission required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4892040"/>
            <a:ext cx="1600200" cy="310896"/>
          </a:xfrm>
          <a:prstGeom prst="roundRect">
            <a:avLst>
              <a:gd name="adj" fmla="val 41176"/>
            </a:avLst>
          </a:prstGeom>
          <a:solidFill>
            <a:srgbClr val="8091A6"/>
          </a:solidFill>
          <a:ln w="12700">
            <a:solidFill>
              <a:srgbClr val="8091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4956048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OPTIONAL ENHANCEMENT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156448" y="1481328"/>
            <a:ext cx="3429000" cy="4041648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0" y="1783080"/>
            <a:ext cx="868680" cy="310896"/>
          </a:xfrm>
          <a:prstGeom prst="roundRect">
            <a:avLst>
              <a:gd name="adj" fmla="val 41176"/>
            </a:avLst>
          </a:prstGeom>
          <a:solidFill>
            <a:srgbClr val="C9952E"/>
          </a:solidFill>
          <a:ln w="12700">
            <a:solidFill>
              <a:srgbClr val="C995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1847088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0" y="2304288"/>
            <a:ext cx="278892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56"/>
                </a:solidFill>
              </a:rPr>
              <a:t>AIS / vessel GPS integration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12480" y="3090672"/>
            <a:ext cx="2788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External telemetry automatically updates positions at defined intervals.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12480" y="4005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087FA7"/>
                </a:solidFill>
              </a:rPr>
              <a:t>DATA BEHAVIOR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0" y="4297680"/>
            <a:ext cx="2697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243A"/>
                </a:solidFill>
              </a:rPr>
              <a:t>Continuous data feed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412480" y="4892040"/>
            <a:ext cx="1600200" cy="310896"/>
          </a:xfrm>
          <a:prstGeom prst="roundRect">
            <a:avLst>
              <a:gd name="adj" fmla="val 41176"/>
            </a:avLst>
          </a:prstGeom>
          <a:solidFill>
            <a:srgbClr val="8091A6"/>
          </a:solidFill>
          <a:ln w="12700">
            <a:solidFill>
              <a:srgbClr val="8091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4956048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FUTURE INVESTMENT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645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FA7"/>
                </a:solidFill>
              </a:rPr>
              <a:t>CONTROLS AND DATA QUALITY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56"/>
                </a:solidFill>
              </a:rPr>
              <a:t>Production controls keep the map trustworthy and secure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The map is an operational monitoring tool—not a certified navigation system.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170432"/>
            <a:ext cx="11018520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5230368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1673352"/>
            <a:ext cx="420624" cy="420624"/>
          </a:xfrm>
          <a:prstGeom prst="ellipse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773936"/>
            <a:ext cx="42062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1600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02A56"/>
                </a:solidFill>
              </a:rPr>
              <a:t>Access control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2990088" y="1554480"/>
            <a:ext cx="25146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6677E"/>
                </a:solidFill>
              </a:rPr>
              <a:t>Company, position and vessel assignment rules determine visibility and editing.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190488" y="1417320"/>
            <a:ext cx="5230368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19088" y="1673352"/>
            <a:ext cx="420624" cy="420624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773936"/>
            <a:ext cx="42062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1600200"/>
            <a:ext cx="1600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02A56"/>
                </a:solidFill>
              </a:rPr>
              <a:t>Coordinate validation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8522208" y="1554480"/>
            <a:ext cx="25146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6677E"/>
                </a:solidFill>
              </a:rPr>
              <a:t>Reject invalid latitude/longitude and preserve the selected input source.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58368" y="2715768"/>
            <a:ext cx="5230368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6968" y="2971800"/>
            <a:ext cx="420624" cy="420624"/>
          </a:xfrm>
          <a:prstGeom prst="ellipse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072384"/>
            <a:ext cx="42062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2898648"/>
            <a:ext cx="1600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02A56"/>
                </a:solidFill>
              </a:rPr>
              <a:t>Audit trail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2990088" y="2852928"/>
            <a:ext cx="25146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6677E"/>
                </a:solidFill>
              </a:rPr>
              <a:t>Record user, timestamp, activity and previous/current position.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190488" y="2715768"/>
            <a:ext cx="5230368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2971800"/>
            <a:ext cx="420624" cy="420624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3072384"/>
            <a:ext cx="42062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95160" y="2898648"/>
            <a:ext cx="1600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02A56"/>
                </a:solidFill>
              </a:rPr>
              <a:t>Stale-location warning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8522208" y="2852928"/>
            <a:ext cx="25146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6677E"/>
                </a:solidFill>
              </a:rPr>
              <a:t>Flag markers when no update has been recorded within the agreed threshold.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58368" y="4014216"/>
            <a:ext cx="5230368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86968" y="4270248"/>
            <a:ext cx="420624" cy="420624"/>
          </a:xfrm>
          <a:prstGeom prst="ellipse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4370832"/>
            <a:ext cx="42062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63040" y="4197096"/>
            <a:ext cx="1600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02A56"/>
                </a:solidFill>
              </a:rPr>
              <a:t>Mobile fallback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2990088" y="4151376"/>
            <a:ext cx="25146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6677E"/>
                </a:solidFill>
              </a:rPr>
              <a:t>Manual coordinates remain available if GPS or search is unavailable offshore.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190488" y="4014216"/>
            <a:ext cx="5230368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19088" y="4270248"/>
            <a:ext cx="420624" cy="420624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4370832"/>
            <a:ext cx="42062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95160" y="4197096"/>
            <a:ext cx="1600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02A56"/>
                </a:solidFill>
              </a:rPr>
              <a:t>Provider protection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8522208" y="4151376"/>
            <a:ext cx="25146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6677E"/>
                </a:solidFill>
              </a:rPr>
              <a:t>Restrict map API keys by domain and keep secrets outside the source code.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58368" y="5394960"/>
            <a:ext cx="10762488" cy="438912"/>
          </a:xfrm>
          <a:prstGeom prst="roundRect">
            <a:avLst>
              <a:gd name="adj" fmla="val 16667"/>
            </a:avLst>
          </a:prstGeom>
          <a:solidFill>
            <a:srgbClr val="FFF2F0"/>
          </a:solidFill>
          <a:ln w="11430">
            <a:solidFill>
              <a:srgbClr val="F0B9B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504688"/>
            <a:ext cx="10241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C74343"/>
                </a:solidFill>
              </a:rPr>
              <a:t>Disclaimer: displayed positions are “latest reported” unless and until an automatic AIS/GPS feed is integrated.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645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FA7"/>
                </a:solidFill>
              </a:rPr>
              <a:t>IMPLEMENTATION ROADMAP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56"/>
                </a:solidFill>
              </a:rPr>
              <a:t>A controlled rollout reduces operational and data risk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Each phase can be demonstrated and accepted before the next phase begins.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170432"/>
            <a:ext cx="11018520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417320"/>
            <a:ext cx="457200" cy="457200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53619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08176" y="1408176"/>
            <a:ext cx="42702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243A"/>
                </a:solidFill>
              </a:rPr>
              <a:t>Confirm requirements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08176" y="1664208"/>
            <a:ext cx="4270248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Map provider, stale threshold, fields, permissions and final UI approval.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1014984" y="1892808"/>
            <a:ext cx="0" cy="566928"/>
          </a:xfrm>
          <a:prstGeom prst="line">
            <a:avLst/>
          </a:prstGeom>
          <a:noFill/>
          <a:ln w="25400">
            <a:solidFill>
              <a:srgbClr val="9BCA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2834640"/>
            <a:ext cx="457200" cy="457200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95351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08176" y="2825496"/>
            <a:ext cx="42702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243A"/>
                </a:solidFill>
              </a:rPr>
              <a:t>Build data foundation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08176" y="3081528"/>
            <a:ext cx="4270248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Coordinates, position logs, indexes, validation and production-safe migration.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014984" y="3310128"/>
            <a:ext cx="0" cy="566928"/>
          </a:xfrm>
          <a:prstGeom prst="line">
            <a:avLst/>
          </a:prstGeom>
          <a:noFill/>
          <a:ln w="25400">
            <a:solidFill>
              <a:srgbClr val="9BCA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4251960"/>
            <a:ext cx="457200" cy="457200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437083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08176" y="4242816"/>
            <a:ext cx="42702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243A"/>
                </a:solidFill>
              </a:rPr>
              <a:t>Enhance workflows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408176" y="4498848"/>
            <a:ext cx="4270248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Map-enabled Create Voyage and Add Activity screens with mobile support.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355080" y="1417320"/>
            <a:ext cx="457200" cy="457200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53619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76872" y="1408176"/>
            <a:ext cx="42702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243A"/>
                </a:solidFill>
              </a:rPr>
              <a:t>Deliver fleet map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76872" y="1664208"/>
            <a:ext cx="4270248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Active-voyage markers, details panel, vessel filtering and access controls.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583680" y="1892808"/>
            <a:ext cx="0" cy="566928"/>
          </a:xfrm>
          <a:prstGeom prst="line">
            <a:avLst/>
          </a:prstGeom>
          <a:noFill/>
          <a:ln w="25400">
            <a:solidFill>
              <a:srgbClr val="9BCA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834640"/>
            <a:ext cx="457200" cy="457200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95351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76872" y="2825496"/>
            <a:ext cx="42702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243A"/>
                </a:solidFill>
              </a:rPr>
              <a:t>Pilot and train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76872" y="3081528"/>
            <a:ext cx="4270248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Test with selected vessels, validate procedures and prepare user guidance.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583680" y="3310128"/>
            <a:ext cx="0" cy="566928"/>
          </a:xfrm>
          <a:prstGeom prst="line">
            <a:avLst/>
          </a:prstGeom>
          <a:noFill/>
          <a:ln w="25400">
            <a:solidFill>
              <a:srgbClr val="9BCA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4251960"/>
            <a:ext cx="457200" cy="457200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37083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76872" y="4242816"/>
            <a:ext cx="42702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243A"/>
                </a:solidFill>
              </a:rPr>
              <a:t>Production rollout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76872" y="4498848"/>
            <a:ext cx="4270248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Deploy, monitor location freshness and collect management feedback.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352544" y="5797296"/>
            <a:ext cx="3456432" cy="310896"/>
          </a:xfrm>
          <a:prstGeom prst="roundRect">
            <a:avLst>
              <a:gd name="adj" fmla="val 41176"/>
            </a:avLst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25696" y="5861304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GO / NO-GO CHECKPOINT AFTER EACH PHASE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645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FA7"/>
                </a:solidFill>
              </a:rPr>
              <a:t>EXPECTED VALUE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56"/>
                </a:solidFill>
              </a:rPr>
              <a:t>Success is measured through visibility, adoption and data freshness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Baseline values should be captured during the pilot before final targets are approved.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170432"/>
            <a:ext cx="11018520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600200"/>
            <a:ext cx="457200" cy="457200"/>
          </a:xfrm>
          <a:prstGeom prst="ellipse">
            <a:avLst/>
          </a:prstGeom>
          <a:solidFill>
            <a:srgbClr val="174E82"/>
          </a:solidFill>
          <a:ln w="12700">
            <a:solidFill>
              <a:srgbClr val="174E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190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26464" y="1572768"/>
            <a:ext cx="427939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Fleet visibility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6464" y="1874520"/>
            <a:ext cx="427939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Active voyages visible on one operational map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181344" y="141732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64224" y="1600200"/>
            <a:ext cx="457200" cy="457200"/>
          </a:xfrm>
          <a:prstGeom prst="ellipse">
            <a:avLst/>
          </a:prstGeom>
          <a:solidFill>
            <a:srgbClr val="087FA7"/>
          </a:solidFill>
          <a:ln w="12700">
            <a:solidFill>
              <a:srgbClr val="087F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17190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1572768"/>
            <a:ext cx="427939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Response 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1874520"/>
            <a:ext cx="427939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Less time spent locating and contacting a vessel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58368" y="2715768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2898648"/>
            <a:ext cx="457200" cy="457200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0175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26464" y="2871216"/>
            <a:ext cx="427939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Accountability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26464" y="3172968"/>
            <a:ext cx="427939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Every position linked to a user, activity and time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181344" y="2715768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64224" y="2898648"/>
            <a:ext cx="457200" cy="457200"/>
          </a:xfrm>
          <a:prstGeom prst="ellipse">
            <a:avLst/>
          </a:prstGeom>
          <a:solidFill>
            <a:srgbClr val="C9952E"/>
          </a:solidFill>
          <a:ln w="12700">
            <a:solidFill>
              <a:srgbClr val="C995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30175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0" y="2871216"/>
            <a:ext cx="427939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43A"/>
                </a:solidFill>
              </a:rPr>
              <a:t>Data readiness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3172968"/>
            <a:ext cx="427939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6677E"/>
                </a:solidFill>
              </a:rPr>
              <a:t>Structured history available for future analytics/AIS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58368" y="4160520"/>
            <a:ext cx="10735056" cy="1316736"/>
          </a:xfrm>
          <a:prstGeom prst="roundRect">
            <a:avLst>
              <a:gd name="adj" fmla="val 5556"/>
            </a:avLst>
          </a:prstGeom>
          <a:solidFill>
            <a:srgbClr val="102A56"/>
          </a:solidFill>
          <a:ln w="11430">
            <a:solidFill>
              <a:srgbClr val="102A56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2688" y="44439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75DCE7"/>
                </a:solidFill>
              </a:rPr>
              <a:t>SUGGESTED PILOT INDICATORS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32688" y="4846320"/>
            <a:ext cx="128016" cy="128016"/>
          </a:xfrm>
          <a:prstGeom prst="ellipse">
            <a:avLst/>
          </a:prstGeom>
          <a:solidFill>
            <a:srgbClr val="19B8C8"/>
          </a:solidFill>
          <a:ln w="12700">
            <a:solidFill>
              <a:srgbClr val="19B8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4736592"/>
            <a:ext cx="212140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% active voyages with coordinates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3584448" y="4846320"/>
            <a:ext cx="128016" cy="128016"/>
          </a:xfrm>
          <a:prstGeom prst="ellipse">
            <a:avLst/>
          </a:prstGeom>
          <a:solidFill>
            <a:srgbClr val="19B8C8"/>
          </a:solidFill>
          <a:ln w="12700">
            <a:solidFill>
              <a:srgbClr val="19B8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4736592"/>
            <a:ext cx="212140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Average age of latest position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236208" y="4846320"/>
            <a:ext cx="128016" cy="128016"/>
          </a:xfrm>
          <a:prstGeom prst="ellipse">
            <a:avLst/>
          </a:prstGeom>
          <a:solidFill>
            <a:srgbClr val="19B8C8"/>
          </a:solidFill>
          <a:ln w="12700">
            <a:solidFill>
              <a:srgbClr val="19B8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736592"/>
            <a:ext cx="212140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Mobile update success rate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8887968" y="4846320"/>
            <a:ext cx="128016" cy="128016"/>
          </a:xfrm>
          <a:prstGeom prst="ellipse">
            <a:avLst/>
          </a:prstGeom>
          <a:solidFill>
            <a:srgbClr val="19B8C8"/>
          </a:solidFill>
          <a:ln w="12700">
            <a:solidFill>
              <a:srgbClr val="19B8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8280" y="4736592"/>
            <a:ext cx="212140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Map-to-voyage click-through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645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FA7"/>
                </a:solidFill>
              </a:rPr>
              <a:t>MANAGEMENT DECISION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56"/>
                </a:solidFill>
              </a:rPr>
              <a:t>Approval requested: proceed with Phase 1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77E"/>
                </a:solidFill>
              </a:rPr>
              <a:t>Begin with latest-reported visibility and a controlled pilot, while preserving a path to automatic tracking.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170432"/>
            <a:ext cx="11018520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89888"/>
            <a:ext cx="6510528" cy="4041648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11430">
            <a:solidFill>
              <a:srgbClr val="D9E3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17190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087FA7"/>
                </a:solidFill>
              </a:rPr>
              <a:t>APPROVAL SCOPE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32688" y="2176272"/>
            <a:ext cx="228600" cy="228600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231136"/>
            <a:ext cx="22860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316736" y="2093976"/>
            <a:ext cx="5266944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43A"/>
                </a:solidFill>
              </a:rPr>
              <a:t>Approve activity-based vessel position monitoring as Phase 1.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932688" y="2734056"/>
            <a:ext cx="228600" cy="228600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788920"/>
            <a:ext cx="22860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316736" y="2651760"/>
            <a:ext cx="5266944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43A"/>
                </a:solidFill>
              </a:rPr>
              <a:t>Approve a map provider evaluation and controlled API budget.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932688" y="3291840"/>
            <a:ext cx="228600" cy="228600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346704"/>
            <a:ext cx="22860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316736" y="3209544"/>
            <a:ext cx="5266944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43A"/>
                </a:solidFill>
              </a:rPr>
              <a:t>Confirm Operations Managers and Captains as position reporters.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932688" y="3849624"/>
            <a:ext cx="228600" cy="228600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904488"/>
            <a:ext cx="22860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316736" y="3767328"/>
            <a:ext cx="5266944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43A"/>
                </a:solidFill>
              </a:rPr>
              <a:t>Authorize a limited pilot using selected active vessels.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932688" y="4407408"/>
            <a:ext cx="228600" cy="228600"/>
          </a:xfrm>
          <a:prstGeom prst="ellipse">
            <a:avLst/>
          </a:prstGeom>
          <a:solidFill>
            <a:srgbClr val="178A64"/>
          </a:solidFill>
          <a:ln w="12700">
            <a:solidFill>
              <a:srgbClr val="178A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462272"/>
            <a:ext cx="22860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316736" y="4325112"/>
            <a:ext cx="5266944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43A"/>
                </a:solidFill>
              </a:rPr>
              <a:t>Review pilot results before considering AIS/GPS integration.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424928" y="1389888"/>
            <a:ext cx="4160520" cy="4041648"/>
          </a:xfrm>
          <a:prstGeom prst="roundRect">
            <a:avLst>
              <a:gd name="adj" fmla="val 1810"/>
            </a:avLst>
          </a:prstGeom>
          <a:solidFill>
            <a:srgbClr val="102A56"/>
          </a:solidFill>
          <a:ln w="11430">
            <a:solidFill>
              <a:srgbClr val="102A56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6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44968" y="17556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75DCE7"/>
                </a:solidFill>
              </a:rPr>
              <a:t>RECOMMENDED DECISION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744968" y="2267712"/>
            <a:ext cx="3246120" cy="10241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PROCEED TO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DETAILED DESIGN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7744968" y="3566160"/>
            <a:ext cx="315468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FD9E9"/>
                </a:solidFill>
              </a:rPr>
              <a:t>Deliverables for the next review: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54112" y="3941064"/>
            <a:ext cx="30632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Final field list and permissions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Working map prototype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Production-safe migration plan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Pilot acceptance checklist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5742432"/>
            <a:ext cx="2743200" cy="310896"/>
          </a:xfrm>
          <a:prstGeom prst="roundRect">
            <a:avLst>
              <a:gd name="adj" fmla="val 41176"/>
            </a:avLst>
          </a:prstGeom>
          <a:solidFill>
            <a:srgbClr val="C9952E"/>
          </a:solidFill>
          <a:ln w="12700">
            <a:solidFill>
              <a:srgbClr val="C995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07992" y="5806440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QUESTIONS &amp; DISCUSSION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Villa Shipping Lines,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Vessel Voyage Map Tracking Proposal</dc:title>
  <dc:subject>Proposed activity-based vessel location monitoring with map visualization</dc:subject>
  <dc:creator>Villa Group Operations System</dc:creator>
  <cp:lastModifiedBy>Villa Group Operations System</cp:lastModifiedBy>
  <cp:revision>1</cp:revision>
  <dcterms:created xsi:type="dcterms:W3CDTF">2026-09-14T02:11:13Z</dcterms:created>
  <dcterms:modified xsi:type="dcterms:W3CDTF">2026-09-14T02:11:13Z</dcterms:modified>
</cp:coreProperties>
</file>