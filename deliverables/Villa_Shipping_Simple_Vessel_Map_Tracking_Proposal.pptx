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26E9B"/>
          </a:solidFill>
          <a:ln w="12700">
            <a:solidFill>
              <a:srgbClr val="126E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71839A"/>
                </a:solidFill>
              </a:rPr>
              <a:t>VILLA SHIPPING LINES, INC.  |  VESSEL MAP TRACKING PROPOSAL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1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1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laragon\www\villa\resources\presentation\central-philippines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F5E">
              <a:alpha val="82000"/>
            </a:srgbClr>
          </a:solidFill>
          <a:ln w="12700">
            <a:solidFill>
              <a:srgbClr val="102F5E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02F5E">
              <a:alpha val="96000"/>
            </a:srgbClr>
          </a:solidFill>
          <a:ln w="12700">
            <a:solidFill>
              <a:srgbClr val="102F5E">
                <a:alpha val="0"/>
              </a:srgbClr>
            </a:solidFill>
            <a:prstDash val="solid"/>
          </a:ln>
        </p:spPr>
      </p:sp>
      <p:pic>
        <p:nvPicPr>
          <p:cNvPr id="5" name="Image 1" descr="C:\laragon\www\villa\public\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8912"/>
            <a:ext cx="1371600" cy="777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4944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EE7ED"/>
                </a:solidFill>
              </a:rPr>
              <a:t>SIMPLE CEO PROPOSAL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58368" y="1938528"/>
            <a:ext cx="489204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Vessel Location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Tracking on a Map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694944" y="3547872"/>
            <a:ext cx="44805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E5F1F7"/>
                </a:solidFill>
              </a:rPr>
              <a:t>Use the existing Voyage and Activity process to show where each active vessel was last reported.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720840" y="1965960"/>
            <a:ext cx="1234440" cy="329184"/>
          </a:xfrm>
          <a:prstGeom prst="roundRect">
            <a:avLst>
              <a:gd name="adj" fmla="val 41667"/>
            </a:avLst>
          </a:prstGeom>
          <a:solidFill>
            <a:srgbClr val="138B65"/>
          </a:solidFill>
          <a:ln w="12700">
            <a:solidFill>
              <a:srgbClr val="138B6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93992" y="2039112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PORT ORIGIN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8229600" y="3154680"/>
            <a:ext cx="1508760" cy="329184"/>
          </a:xfrm>
          <a:prstGeom prst="roundRect">
            <a:avLst>
              <a:gd name="adj" fmla="val 41667"/>
            </a:avLst>
          </a:prstGeom>
          <a:solidFill>
            <a:srgbClr val="D19A2A"/>
          </a:solidFill>
          <a:ln w="12700">
            <a:solidFill>
              <a:srgbClr val="D19A2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302752" y="3227832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F5E"/>
                </a:solidFill>
              </a:rPr>
              <a:t>CURRENT LOCATION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9738360" y="4407408"/>
            <a:ext cx="1600200" cy="329184"/>
          </a:xfrm>
          <a:prstGeom prst="roundRect">
            <a:avLst>
              <a:gd name="adj" fmla="val 41667"/>
            </a:avLst>
          </a:prstGeom>
          <a:solidFill>
            <a:srgbClr val="C83F45"/>
          </a:solidFill>
          <a:ln w="12700">
            <a:solidFill>
              <a:srgbClr val="C83F4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11512" y="4480560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PORT DESTINATION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7351776" y="2359152"/>
            <a:ext cx="1645920" cy="987552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997696" y="3346704"/>
            <a:ext cx="1600200" cy="1243584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7" name="Text 13"/>
          <p:cNvSpPr/>
          <p:nvPr/>
        </p:nvSpPr>
        <p:spPr>
          <a:xfrm>
            <a:off x="694944" y="5897880"/>
            <a:ext cx="3200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FE3EE"/>
                </a:solidFill>
              </a:rPr>
              <a:t>Prepared for Management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F5E"/>
                </a:solidFill>
              </a:rPr>
              <a:t>What the system does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6A80"/>
                </a:solidFill>
              </a:rPr>
              <a:t>The existing process already records the ports, voyage and activities.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207008"/>
            <a:ext cx="10972800" cy="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1874520"/>
            <a:ext cx="521208" cy="521208"/>
          </a:xfrm>
          <a:prstGeom prst="ellipse">
            <a:avLst/>
          </a:prstGeom>
          <a:solidFill>
            <a:srgbClr val="126E9B"/>
          </a:solidFill>
          <a:ln w="12700">
            <a:solidFill>
              <a:srgbClr val="126E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93392"/>
            <a:ext cx="521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63624" y="1783080"/>
            <a:ext cx="4178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F5E"/>
                </a:solidFill>
              </a:rPr>
              <a:t>Create Voyage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63624" y="2093976"/>
            <a:ext cx="4178808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96A80"/>
                </a:solidFill>
              </a:rPr>
              <a:t>Enter voyage number, cargo, crew, Port Origin, Port Destination and Current Location.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6208" y="160020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7376" y="1874520"/>
            <a:ext cx="521208" cy="521208"/>
          </a:xfrm>
          <a:prstGeom prst="ellipse">
            <a:avLst/>
          </a:prstGeom>
          <a:solidFill>
            <a:srgbClr val="126E9B"/>
          </a:solidFill>
          <a:ln w="12700">
            <a:solidFill>
              <a:srgbClr val="126E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993392"/>
            <a:ext cx="521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14032" y="1783080"/>
            <a:ext cx="4178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F5E"/>
                </a:solidFill>
              </a:rPr>
              <a:t>Add Voyage Status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14032" y="2093976"/>
            <a:ext cx="4178808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96A80"/>
                </a:solidFill>
              </a:rPr>
              <a:t>Open the current operational phase, such as Loading, Sailing or Unloading.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3081528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6968" y="3355848"/>
            <a:ext cx="521208" cy="521208"/>
          </a:xfrm>
          <a:prstGeom prst="ellipse">
            <a:avLst/>
          </a:prstGeom>
          <a:solidFill>
            <a:srgbClr val="126E9B"/>
          </a:solidFill>
          <a:ln w="12700">
            <a:solidFill>
              <a:srgbClr val="126E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474720"/>
            <a:ext cx="521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63624" y="3264408"/>
            <a:ext cx="4178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F5E"/>
                </a:solidFill>
              </a:rPr>
              <a:t>Add Activity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63624" y="3575304"/>
            <a:ext cx="4178808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96A80"/>
                </a:solidFill>
              </a:rPr>
              <a:t>Record the vessel activity and select its current port or location.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36208" y="3081528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7376" y="3355848"/>
            <a:ext cx="521208" cy="521208"/>
          </a:xfrm>
          <a:prstGeom prst="ellipse">
            <a:avLst/>
          </a:prstGeom>
          <a:solidFill>
            <a:srgbClr val="138B65"/>
          </a:solidFill>
          <a:ln w="12700">
            <a:solidFill>
              <a:srgbClr val="138B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3474720"/>
            <a:ext cx="521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14032" y="3264408"/>
            <a:ext cx="4178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F5E"/>
                </a:solidFill>
              </a:rPr>
              <a:t>Complete Voyage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14032" y="3575304"/>
            <a:ext cx="4178808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96A80"/>
                </a:solidFill>
              </a:rPr>
              <a:t>Close all activities and statuses, then complete the voyage.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4773168"/>
            <a:ext cx="10808208" cy="694944"/>
          </a:xfrm>
          <a:prstGeom prst="roundRect">
            <a:avLst>
              <a:gd name="adj" fmla="val 10526"/>
            </a:avLst>
          </a:prstGeom>
          <a:solidFill>
            <a:srgbClr val="102F5E"/>
          </a:solidFill>
          <a:ln w="11430">
            <a:solidFill>
              <a:srgbClr val="102F5E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87552" y="4974336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EE7ED"/>
                </a:solidFill>
              </a:rPr>
              <a:t>PROPOSED CHANGE: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42032" y="4901184"/>
            <a:ext cx="81838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Add a map and coordinates to the same Create Voyage and Add Activity screens.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1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F5E"/>
                </a:solidFill>
              </a:rPr>
              <a:t>During Create Voyage: select three locations on the 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6A80"/>
                </a:solidFill>
              </a:rPr>
              <a:t>Users can search, click the map, use device location, or enter latitude and longitude.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207008"/>
            <a:ext cx="10972800" cy="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3886200" cy="452628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700784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6E9B"/>
                </a:solidFill>
              </a:rPr>
              <a:t>CREATE VOYAGE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084832"/>
            <a:ext cx="19202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F5E"/>
                </a:solidFill>
              </a:rPr>
              <a:t>Port Origin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32688" y="2331720"/>
            <a:ext cx="3310128" cy="420624"/>
          </a:xfrm>
          <a:prstGeom prst="roundRect">
            <a:avLst>
              <a:gd name="adj" fmla="val 10870"/>
            </a:avLst>
          </a:prstGeom>
          <a:solidFill>
            <a:srgbClr val="F4F7FB"/>
          </a:solidFill>
          <a:ln w="15240">
            <a:solidFill>
              <a:srgbClr val="138B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441448"/>
            <a:ext cx="2788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596A80"/>
                </a:solidFill>
              </a:rPr>
              <a:t>Search or select origin port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886200" y="2432304"/>
            <a:ext cx="146304" cy="146304"/>
          </a:xfrm>
          <a:prstGeom prst="ellipse">
            <a:avLst/>
          </a:prstGeom>
          <a:solidFill>
            <a:srgbClr val="138B65"/>
          </a:solidFill>
          <a:ln w="12700">
            <a:solidFill>
              <a:srgbClr val="138B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145536"/>
            <a:ext cx="19202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F5E"/>
                </a:solidFill>
              </a:rPr>
              <a:t>Port Destination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32688" y="3392424"/>
            <a:ext cx="3310128" cy="420624"/>
          </a:xfrm>
          <a:prstGeom prst="roundRect">
            <a:avLst>
              <a:gd name="adj" fmla="val 10870"/>
            </a:avLst>
          </a:prstGeom>
          <a:solidFill>
            <a:srgbClr val="F4F7FB"/>
          </a:solidFill>
          <a:ln w="15240">
            <a:solidFill>
              <a:srgbClr val="C83F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502152"/>
            <a:ext cx="2788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596A80"/>
                </a:solidFill>
              </a:rPr>
              <a:t>Search or select destination port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3886200" y="3493008"/>
            <a:ext cx="146304" cy="146304"/>
          </a:xfrm>
          <a:prstGeom prst="ellipse">
            <a:avLst/>
          </a:prstGeom>
          <a:solidFill>
            <a:srgbClr val="C83F45"/>
          </a:solidFill>
          <a:ln w="12700">
            <a:solidFill>
              <a:srgbClr val="C83F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206240"/>
            <a:ext cx="19202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F5E"/>
                </a:solidFill>
              </a:rPr>
              <a:t>Current Location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32688" y="4453128"/>
            <a:ext cx="3310128" cy="420624"/>
          </a:xfrm>
          <a:prstGeom prst="roundRect">
            <a:avLst>
              <a:gd name="adj" fmla="val 10870"/>
            </a:avLst>
          </a:prstGeom>
          <a:solidFill>
            <a:srgbClr val="F4F7FB"/>
          </a:solidFill>
          <a:ln w="15240">
            <a:solidFill>
              <a:srgbClr val="D19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562856"/>
            <a:ext cx="2788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596A80"/>
                </a:solidFill>
              </a:rPr>
              <a:t>Use GPS, search or drop a map pin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3886200" y="4553712"/>
            <a:ext cx="146304" cy="146304"/>
          </a:xfrm>
          <a:prstGeom prst="ellipse">
            <a:avLst/>
          </a:prstGeom>
          <a:solidFill>
            <a:srgbClr val="D19A2A"/>
          </a:solidFill>
          <a:ln w="12700">
            <a:solidFill>
              <a:srgbClr val="D19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5358384"/>
            <a:ext cx="2331720" cy="329184"/>
          </a:xfrm>
          <a:prstGeom prst="roundRect">
            <a:avLst>
              <a:gd name="adj" fmla="val 41667"/>
            </a:avLst>
          </a:prstGeom>
          <a:solidFill>
            <a:srgbClr val="126E9B"/>
          </a:solidFill>
          <a:ln w="12700">
            <a:solidFill>
              <a:srgbClr val="126E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431536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SAVE VOYAGE &amp; MAP POINTS</a:t>
            </a:r>
            <a:endParaRPr lang="en-US" sz="800" dirty="0"/>
          </a:p>
        </p:txBody>
      </p:sp>
      <p:pic>
        <p:nvPicPr>
          <p:cNvPr id="21" name="Image 0" descr="C:\laragon\www\villa\resources\presentation\central-philippines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748272" cy="452628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800600" y="1417320"/>
            <a:ext cx="6748272" cy="4526280"/>
          </a:xfrm>
          <a:prstGeom prst="rect">
            <a:avLst/>
          </a:prstGeom>
          <a:solidFill>
            <a:srgbClr val="001C38">
              <a:alpha val="22000"/>
            </a:srgbClr>
          </a:solidFill>
          <a:ln w="12700">
            <a:solidFill>
              <a:srgbClr val="88C9D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15289" y="2503627"/>
            <a:ext cx="2226930" cy="1267358"/>
          </a:xfrm>
          <a:prstGeom prst="line">
            <a:avLst/>
          </a:prstGeom>
          <a:noFill/>
          <a:ln w="38100">
            <a:solidFill>
              <a:srgbClr val="12AFC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42219" y="3770986"/>
            <a:ext cx="2159447" cy="1222096"/>
          </a:xfrm>
          <a:prstGeom prst="line">
            <a:avLst/>
          </a:prstGeom>
          <a:noFill/>
          <a:ln w="38100">
            <a:solidFill>
              <a:srgbClr val="12AFC2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878129" y="2366467"/>
            <a:ext cx="274320" cy="274320"/>
          </a:xfrm>
          <a:prstGeom prst="ellipse">
            <a:avLst/>
          </a:prstGeom>
          <a:solidFill>
            <a:srgbClr val="138B6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79881" y="2064715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289609" y="2156155"/>
            <a:ext cx="13350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38B65"/>
                </a:solidFill>
              </a:rPr>
              <a:t>PORT ORIGIN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6289609" y="2366467"/>
            <a:ext cx="1335024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96A80"/>
                </a:solidFill>
              </a:rPr>
              <a:t>Cebu Port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8105059" y="3633826"/>
            <a:ext cx="274320" cy="274320"/>
          </a:xfrm>
          <a:prstGeom prst="ellipse">
            <a:avLst/>
          </a:prstGeom>
          <a:solidFill>
            <a:srgbClr val="D19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406811" y="2984602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516539" y="3076042"/>
            <a:ext cx="13350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D19A2A"/>
                </a:solidFill>
              </a:rPr>
              <a:t>CURRENT VESSEL LOCATION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8516539" y="3286354"/>
            <a:ext cx="1335024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96A80"/>
                </a:solidFill>
              </a:rPr>
              <a:t>Updated from latest activity</a:t>
            </a:r>
            <a:endParaRPr lang="en-US" sz="720" dirty="0"/>
          </a:p>
        </p:txBody>
      </p:sp>
      <p:sp>
        <p:nvSpPr>
          <p:cNvPr id="33" name="Shape 30"/>
          <p:cNvSpPr/>
          <p:nvPr/>
        </p:nvSpPr>
        <p:spPr>
          <a:xfrm>
            <a:off x="10264506" y="4855921"/>
            <a:ext cx="274320" cy="274320"/>
          </a:xfrm>
          <a:prstGeom prst="ellipse">
            <a:avLst/>
          </a:prstGeom>
          <a:solidFill>
            <a:srgbClr val="C83F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710026" y="4554169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819754" y="4645609"/>
            <a:ext cx="13350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83F45"/>
                </a:solidFill>
              </a:rPr>
              <a:t>PORT DESTINATION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8819754" y="4855921"/>
            <a:ext cx="1335024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96A80"/>
                </a:solidFill>
              </a:rPr>
              <a:t>Destination Port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1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F5E"/>
                </a:solidFill>
              </a:rPr>
              <a:t>How the vessel marker moves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6A80"/>
                </a:solidFill>
              </a:rPr>
              <a:t>The latest location saved from an activity becomes the vessel’s current position on the map.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207008"/>
            <a:ext cx="10972800" cy="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60020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9616" y="1874520"/>
            <a:ext cx="804672" cy="804672"/>
          </a:xfrm>
          <a:prstGeom prst="ellipse">
            <a:avLst/>
          </a:prstGeom>
          <a:solidFill>
            <a:srgbClr val="138B65"/>
          </a:solidFill>
          <a:ln w="12700">
            <a:solidFill>
              <a:srgbClr val="138B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9616" y="2075688"/>
            <a:ext cx="80467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2971800"/>
            <a:ext cx="21031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F5E"/>
                </a:solidFill>
              </a:rPr>
              <a:t>Voyage starts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02152"/>
            <a:ext cx="199339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96A80"/>
                </a:solidFill>
              </a:rPr>
              <a:t>Origin, destination and initial location are saved.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55264" y="2788920"/>
            <a:ext cx="210312" cy="365760"/>
          </a:xfrm>
          <a:prstGeom prst="chevron">
            <a:avLst/>
          </a:prstGeom>
          <a:solidFill>
            <a:srgbClr val="9FB2C4"/>
          </a:solidFill>
          <a:ln w="12700">
            <a:solidFill>
              <a:srgbClr val="9FB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160020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874520"/>
            <a:ext cx="804672" cy="804672"/>
          </a:xfrm>
          <a:prstGeom prst="ellipse">
            <a:avLst/>
          </a:prstGeom>
          <a:solidFill>
            <a:srgbClr val="126E9B"/>
          </a:solidFill>
          <a:ln w="12700">
            <a:solidFill>
              <a:srgbClr val="126E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075688"/>
            <a:ext cx="80467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971800"/>
            <a:ext cx="21031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F5E"/>
                </a:solidFill>
              </a:rPr>
              <a:t>User adds an activity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03904" y="3502152"/>
            <a:ext cx="199339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96A80"/>
                </a:solidFill>
              </a:rPr>
              <a:t>Example: Departed Cebu Port or Arrived at anchorage.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2788920"/>
            <a:ext cx="210312" cy="365760"/>
          </a:xfrm>
          <a:prstGeom prst="chevron">
            <a:avLst/>
          </a:prstGeom>
          <a:solidFill>
            <a:srgbClr val="9FB2C4"/>
          </a:solidFill>
          <a:ln w="12700">
            <a:solidFill>
              <a:srgbClr val="9FB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60020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78624" y="1874520"/>
            <a:ext cx="804672" cy="804672"/>
          </a:xfrm>
          <a:prstGeom prst="ellipse">
            <a:avLst/>
          </a:prstGeom>
          <a:solidFill>
            <a:srgbClr val="D19A2A"/>
          </a:solidFill>
          <a:ln w="12700">
            <a:solidFill>
              <a:srgbClr val="D19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2075688"/>
            <a:ext cx="80467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38544" y="2971800"/>
            <a:ext cx="21031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F5E"/>
                </a:solidFill>
              </a:rPr>
              <a:t>Current location is updated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93408" y="3502152"/>
            <a:ext cx="199339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96A80"/>
                </a:solidFill>
              </a:rPr>
              <a:t>Use GPS, search, map pin or manual coordinates.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34272" y="2788920"/>
            <a:ext cx="210312" cy="365760"/>
          </a:xfrm>
          <a:prstGeom prst="chevron">
            <a:avLst/>
          </a:prstGeom>
          <a:solidFill>
            <a:srgbClr val="9FB2C4"/>
          </a:solidFill>
          <a:ln w="12700">
            <a:solidFill>
              <a:srgbClr val="9FB2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0304" y="160020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168128" y="1874520"/>
            <a:ext cx="804672" cy="804672"/>
          </a:xfrm>
          <a:prstGeom prst="ellipse">
            <a:avLst/>
          </a:prstGeom>
          <a:solidFill>
            <a:srgbClr val="C83F45"/>
          </a:solidFill>
          <a:ln w="12700">
            <a:solidFill>
              <a:srgbClr val="C83F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8128" y="2075688"/>
            <a:ext cx="80467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28048" y="2971800"/>
            <a:ext cx="21031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F5E"/>
                </a:solidFill>
              </a:rPr>
              <a:t>Map marker moves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82912" y="3502152"/>
            <a:ext cx="199339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96A80"/>
                </a:solidFill>
              </a:rPr>
              <a:t>Managers see the latest reported vessel location.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0" y="5248656"/>
            <a:ext cx="8183880" cy="502920"/>
          </a:xfrm>
          <a:prstGeom prst="roundRect">
            <a:avLst>
              <a:gd name="adj" fmla="val 14545"/>
            </a:avLst>
          </a:prstGeom>
          <a:solidFill>
            <a:srgbClr val="E9F4F8"/>
          </a:solidFill>
          <a:ln w="11430">
            <a:solidFill>
              <a:srgbClr val="B8DEE6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267712" y="5385816"/>
            <a:ext cx="766267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6E9B"/>
                </a:solidFill>
              </a:rPr>
              <a:t>Every update keeps the user, date, time, voyage and activity for history and accountability.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1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F5E"/>
                </a:solidFill>
              </a:rPr>
              <a:t>What the Current Voyage Map will look like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6A80"/>
                </a:solidFill>
              </a:rPr>
              <a:t>Each marker represents one vessel with an active voyage.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207008"/>
            <a:ext cx="10972800" cy="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pic>
        <p:nvPicPr>
          <p:cNvPr id="5" name="Image 0" descr="C:\laragon\www\villa\resources\presentation\central-philippines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8366760" cy="45902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371600"/>
            <a:ext cx="8366760" cy="4590288"/>
          </a:xfrm>
          <a:prstGeom prst="rect">
            <a:avLst/>
          </a:prstGeom>
          <a:solidFill>
            <a:srgbClr val="001C38">
              <a:alpha val="22000"/>
            </a:srgbClr>
          </a:solidFill>
          <a:ln w="12700">
            <a:solidFill>
              <a:srgbClr val="88C9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64385" y="2473269"/>
            <a:ext cx="2761031" cy="1285281"/>
          </a:xfrm>
          <a:prstGeom prst="line">
            <a:avLst/>
          </a:prstGeom>
          <a:noFill/>
          <a:ln w="38100">
            <a:solidFill>
              <a:srgbClr val="12AFC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25416" y="3758550"/>
            <a:ext cx="2677363" cy="1239378"/>
          </a:xfrm>
          <a:prstGeom prst="line">
            <a:avLst/>
          </a:prstGeom>
          <a:noFill/>
          <a:ln w="38100">
            <a:solidFill>
              <a:srgbClr val="12AFC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027225" y="2336109"/>
            <a:ext cx="274320" cy="274320"/>
          </a:xfrm>
          <a:prstGeom prst="ellipse">
            <a:avLst/>
          </a:prstGeom>
          <a:solidFill>
            <a:srgbClr val="138B6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28977" y="2034357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38705" y="2125797"/>
            <a:ext cx="13350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38B65"/>
                </a:solidFill>
              </a:rPr>
              <a:t>PORT ORIGIN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2438705" y="2336109"/>
            <a:ext cx="1335024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96A80"/>
                </a:solidFill>
              </a:rPr>
              <a:t>Cebu Port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4788256" y="3621390"/>
            <a:ext cx="274320" cy="274320"/>
          </a:xfrm>
          <a:prstGeom prst="ellipse">
            <a:avLst/>
          </a:prstGeom>
          <a:solidFill>
            <a:srgbClr val="D19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90008" y="2972166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99736" y="3063606"/>
            <a:ext cx="13350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D19A2A"/>
                </a:solidFill>
              </a:rPr>
              <a:t>CURRENT VESSEL LOCATION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199736" y="3273918"/>
            <a:ext cx="1335024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96A80"/>
                </a:solidFill>
              </a:rPr>
              <a:t>Updated from latest activity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7465619" y="4860768"/>
            <a:ext cx="274320" cy="274320"/>
          </a:xfrm>
          <a:prstGeom prst="ellipse">
            <a:avLst/>
          </a:prstGeom>
          <a:solidFill>
            <a:srgbClr val="C83F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11139" y="4559016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20867" y="4650456"/>
            <a:ext cx="13350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83F45"/>
                </a:solidFill>
              </a:rPr>
              <a:t>PORT DESTINATION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6020867" y="4860768"/>
            <a:ext cx="1335024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96A80"/>
                </a:solidFill>
              </a:rPr>
              <a:t>Destination Port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9235440" y="1371600"/>
            <a:ext cx="2304288" cy="4590288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482328" y="1682496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26E9B"/>
                </a:solidFill>
              </a:rPr>
              <a:t>SELECTED VESSEL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9482328" y="2066544"/>
            <a:ext cx="17556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F5E"/>
                </a:solidFill>
              </a:rPr>
              <a:t>MV SAMPLE 01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9482328" y="2615184"/>
            <a:ext cx="1234440" cy="329184"/>
          </a:xfrm>
          <a:prstGeom prst="roundRect">
            <a:avLst>
              <a:gd name="adj" fmla="val 41667"/>
            </a:avLst>
          </a:prstGeom>
          <a:solidFill>
            <a:srgbClr val="138B65"/>
          </a:solidFill>
          <a:ln w="12700">
            <a:solidFill>
              <a:srgbClr val="138B6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555480" y="2688336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ACTIVE VOYAGE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9482328" y="3172968"/>
            <a:ext cx="74980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291A5"/>
                </a:solidFill>
              </a:rPr>
              <a:t>Voyage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10222992" y="3136392"/>
            <a:ext cx="94183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243A"/>
                </a:solidFill>
              </a:rPr>
              <a:t>VL-00048</a:t>
            </a:r>
            <a:endParaRPr lang="en-US" sz="830" dirty="0"/>
          </a:p>
        </p:txBody>
      </p:sp>
      <p:sp>
        <p:nvSpPr>
          <p:cNvPr id="28" name="Text 25"/>
          <p:cNvSpPr/>
          <p:nvPr/>
        </p:nvSpPr>
        <p:spPr>
          <a:xfrm>
            <a:off x="9482328" y="3584448"/>
            <a:ext cx="74980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291A5"/>
                </a:solidFill>
              </a:rPr>
              <a:t>Status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10222992" y="3547872"/>
            <a:ext cx="94183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243A"/>
                </a:solidFill>
              </a:rPr>
              <a:t>Sailing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9482328" y="3995928"/>
            <a:ext cx="74980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291A5"/>
                </a:solidFill>
              </a:rPr>
              <a:t>Origin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10222992" y="3959352"/>
            <a:ext cx="94183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7243A"/>
                </a:solidFill>
              </a:rPr>
              <a:t>Cebu Port</a:t>
            </a:r>
            <a:endParaRPr lang="en-US" sz="830" dirty="0"/>
          </a:p>
        </p:txBody>
      </p:sp>
      <p:sp>
        <p:nvSpPr>
          <p:cNvPr id="32" name="Text 29"/>
          <p:cNvSpPr/>
          <p:nvPr/>
        </p:nvSpPr>
        <p:spPr>
          <a:xfrm>
            <a:off x="9482328" y="4407408"/>
            <a:ext cx="74980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291A5"/>
                </a:solidFill>
              </a:rPr>
              <a:t>Destination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10222992" y="4370832"/>
            <a:ext cx="94183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7243A"/>
                </a:solidFill>
              </a:rPr>
              <a:t>Destination Port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9482328" y="4818888"/>
            <a:ext cx="74980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291A5"/>
                </a:solidFill>
              </a:rPr>
              <a:t>Last updated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10222992" y="4782312"/>
            <a:ext cx="94183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7243A"/>
                </a:solidFill>
              </a:rPr>
              <a:t>Today, 10:42 AM</a:t>
            </a:r>
            <a:endParaRPr lang="en-US" sz="830" dirty="0"/>
          </a:p>
        </p:txBody>
      </p:sp>
      <p:sp>
        <p:nvSpPr>
          <p:cNvPr id="36" name="Shape 33"/>
          <p:cNvSpPr/>
          <p:nvPr/>
        </p:nvSpPr>
        <p:spPr>
          <a:xfrm>
            <a:off x="9482328" y="5404104"/>
            <a:ext cx="1719072" cy="329184"/>
          </a:xfrm>
          <a:prstGeom prst="roundRect">
            <a:avLst>
              <a:gd name="adj" fmla="val 41667"/>
            </a:avLst>
          </a:prstGeom>
          <a:solidFill>
            <a:srgbClr val="102F5E"/>
          </a:solidFill>
          <a:ln w="12700">
            <a:solidFill>
              <a:srgbClr val="102F5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555480" y="5477256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VIEW VOYAGE DETAILS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1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F5E"/>
                </a:solidFill>
              </a:rPr>
              <a:t>Who can use and view 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6A80"/>
                </a:solidFill>
              </a:rPr>
              <a:t>The proposed map follows the current system permissions and vessel assignments.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207008"/>
            <a:ext cx="10972800" cy="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35608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591056"/>
            <a:ext cx="347472" cy="347472"/>
          </a:xfrm>
          <a:prstGeom prst="ellipse">
            <a:avLst/>
          </a:prstGeom>
          <a:solidFill>
            <a:srgbClr val="102F5E"/>
          </a:solidFill>
          <a:ln w="12700">
            <a:solidFill>
              <a:srgbClr val="102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73352"/>
            <a:ext cx="34747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36192" y="1554480"/>
            <a:ext cx="2971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F5E"/>
                </a:solidFill>
              </a:rPr>
              <a:t>System Administrator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17720" y="1545336"/>
            <a:ext cx="6263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96A80"/>
                </a:solidFill>
              </a:rPr>
              <a:t>View all vessels and manage the feature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04288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2459736"/>
            <a:ext cx="347472" cy="347472"/>
          </a:xfrm>
          <a:prstGeom prst="ellipse">
            <a:avLst/>
          </a:prstGeom>
          <a:solidFill>
            <a:srgbClr val="126E9B"/>
          </a:solidFill>
          <a:ln w="12700">
            <a:solidFill>
              <a:srgbClr val="126E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542032"/>
            <a:ext cx="34747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536192" y="2423160"/>
            <a:ext cx="2971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F5E"/>
                </a:solidFill>
              </a:rPr>
              <a:t>Operations / Vessel Manager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414016"/>
            <a:ext cx="6263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96A80"/>
                </a:solidFill>
              </a:rPr>
              <a:t>View all active vessels and update locations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172968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3328416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410712"/>
            <a:ext cx="34747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536192" y="3291840"/>
            <a:ext cx="2971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F5E"/>
                </a:solidFill>
              </a:rPr>
              <a:t>Technical Manager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3282696"/>
            <a:ext cx="6263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96A80"/>
                </a:solidFill>
              </a:rPr>
              <a:t>View authorized vessels for coordination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041648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4197096"/>
            <a:ext cx="347472" cy="347472"/>
          </a:xfrm>
          <a:prstGeom prst="ellipse">
            <a:avLst/>
          </a:prstGeom>
          <a:solidFill>
            <a:srgbClr val="138B65"/>
          </a:solidFill>
          <a:ln w="12700">
            <a:solidFill>
              <a:srgbClr val="138B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279392"/>
            <a:ext cx="34747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536192" y="4160520"/>
            <a:ext cx="2971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F5E"/>
                </a:solidFill>
              </a:rPr>
              <a:t>Vessel Captain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4151376"/>
            <a:ext cx="6263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96A80"/>
                </a:solidFill>
              </a:rPr>
              <a:t>View and update the assigned vessel only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910328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0120" y="5065776"/>
            <a:ext cx="347472" cy="347472"/>
          </a:xfrm>
          <a:prstGeom prst="ellipse">
            <a:avLst/>
          </a:prstGeom>
          <a:solidFill>
            <a:srgbClr val="D19A2A"/>
          </a:solidFill>
          <a:ln w="12700">
            <a:solidFill>
              <a:srgbClr val="D19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148072"/>
            <a:ext cx="34747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536192" y="5029200"/>
            <a:ext cx="2971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F5E"/>
                </a:solidFill>
              </a:rPr>
              <a:t>Executive Viewer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5020056"/>
            <a:ext cx="6263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96A80"/>
                </a:solidFill>
              </a:rPr>
              <a:t>Read-only management map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1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F5E"/>
                </a:solidFill>
              </a:rPr>
              <a:t>What “tracking” means in the first version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6A80"/>
                </a:solidFill>
              </a:rPr>
              <a:t>Management should clearly understand the difference between reported tracking and automatic tracking.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207008"/>
            <a:ext cx="10972800" cy="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5230368" cy="4251960"/>
          </a:xfrm>
          <a:prstGeom prst="roundRect">
            <a:avLst>
              <a:gd name="adj" fmla="val 1720"/>
            </a:avLst>
          </a:prstGeom>
          <a:solidFill>
            <a:srgbClr val="EBF8F3"/>
          </a:solidFill>
          <a:ln w="11430">
            <a:solidFill>
              <a:srgbClr val="A8DBC7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792224"/>
            <a:ext cx="1920240" cy="329184"/>
          </a:xfrm>
          <a:prstGeom prst="roundRect">
            <a:avLst>
              <a:gd name="adj" fmla="val 41667"/>
            </a:avLst>
          </a:prstGeom>
          <a:solidFill>
            <a:srgbClr val="138B65"/>
          </a:solidFill>
          <a:ln w="12700">
            <a:solidFill>
              <a:srgbClr val="138B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865376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 — PROPOSED NOW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87552" y="2331720"/>
            <a:ext cx="4160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F5E"/>
                </a:solidFill>
              </a:rPr>
              <a:t>Latest Reported Location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87552" y="2971800"/>
            <a:ext cx="42519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96A80"/>
                </a:solidFill>
              </a:rPr>
              <a:t>The vessel marker updates when an authorized user saves the current location during voyage creation or an activity update.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4187952"/>
            <a:ext cx="41605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38B65"/>
                </a:solidFill>
              </a:rPr>
              <a:t>✓ Practical first release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138B65"/>
                </a:solidFill>
              </a:rPr>
              <a:t>✓ Uses the existing workflow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138B65"/>
                </a:solidFill>
              </a:rPr>
              <a:t>✓ Keeps position history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138B65"/>
                </a:solidFill>
              </a:rPr>
              <a:t>✓ Lower implementation complexity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1481328"/>
            <a:ext cx="5230368" cy="4251960"/>
          </a:xfrm>
          <a:prstGeom prst="roundRect">
            <a:avLst>
              <a:gd name="adj" fmla="val 1720"/>
            </a:avLst>
          </a:prstGeom>
          <a:solidFill>
            <a:srgbClr val="FFF6E8"/>
          </a:solidFill>
          <a:ln w="11430">
            <a:solidFill>
              <a:srgbClr val="E9CE9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1792224"/>
            <a:ext cx="1234440" cy="329184"/>
          </a:xfrm>
          <a:prstGeom prst="roundRect">
            <a:avLst>
              <a:gd name="adj" fmla="val 41667"/>
            </a:avLst>
          </a:prstGeom>
          <a:solidFill>
            <a:srgbClr val="D19A2A"/>
          </a:solidFill>
          <a:ln w="12700">
            <a:solidFill>
              <a:srgbClr val="D19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865376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F5E"/>
                </a:solidFill>
              </a:rPr>
              <a:t>FUTURE OPTION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37960" y="2331720"/>
            <a:ext cx="4160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F5E"/>
                </a:solidFill>
              </a:rPr>
              <a:t>Automatic Live Tracking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537960" y="2971800"/>
            <a:ext cx="42519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96A80"/>
                </a:solidFill>
              </a:rPr>
              <a:t>Continuous movement requires integration with an AIS provider or a dedicated GPS device installed on the vessel.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4187952"/>
            <a:ext cx="41605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96E13"/>
                </a:solidFill>
              </a:rPr>
              <a:t>• Automatic location feed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A96E13"/>
                </a:solidFill>
              </a:rPr>
              <a:t>• Additional provider/device cost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A96E13"/>
                </a:solidFill>
              </a:rPr>
              <a:t>• Connectivity and integration required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A96E13"/>
                </a:solidFill>
              </a:rPr>
              <a:t>• Can be added after Phase 1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1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F5E"/>
                </a:solidFill>
              </a:rPr>
              <a:t>Management approval requested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6A80"/>
                </a:solidFill>
              </a:rPr>
              <a:t>Proceed with the simple map-enabled design before considering automatic AIS/GPS tracking.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207008"/>
            <a:ext cx="10972800" cy="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0876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1430">
            <a:solidFill>
              <a:srgbClr val="D8E2EC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1847088"/>
            <a:ext cx="21031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26E9B"/>
                </a:solidFill>
              </a:rPr>
              <a:t>PROPOSED PHASE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24128" y="2313432"/>
            <a:ext cx="256032" cy="256032"/>
          </a:xfrm>
          <a:prstGeom prst="ellipse">
            <a:avLst/>
          </a:prstGeom>
          <a:solidFill>
            <a:srgbClr val="138B65"/>
          </a:solidFill>
          <a:ln w="12700">
            <a:solidFill>
              <a:srgbClr val="138B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377440"/>
            <a:ext cx="25603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481328" y="2221992"/>
            <a:ext cx="5394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43A"/>
                </a:solidFill>
              </a:rPr>
              <a:t>Add a map to Create Voyage.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24128" y="2889504"/>
            <a:ext cx="256032" cy="256032"/>
          </a:xfrm>
          <a:prstGeom prst="ellipse">
            <a:avLst/>
          </a:prstGeom>
          <a:solidFill>
            <a:srgbClr val="138B65"/>
          </a:solidFill>
          <a:ln w="12700">
            <a:solidFill>
              <a:srgbClr val="138B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953512"/>
            <a:ext cx="25603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481328" y="2798064"/>
            <a:ext cx="5394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43A"/>
                </a:solidFill>
              </a:rPr>
              <a:t>Plot Port Origin, Port Destination and Current Location.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24128" y="3465576"/>
            <a:ext cx="256032" cy="256032"/>
          </a:xfrm>
          <a:prstGeom prst="ellipse">
            <a:avLst/>
          </a:prstGeom>
          <a:solidFill>
            <a:srgbClr val="138B65"/>
          </a:solidFill>
          <a:ln w="12700">
            <a:solidFill>
              <a:srgbClr val="138B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529584"/>
            <a:ext cx="25603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81328" y="3374136"/>
            <a:ext cx="5394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43A"/>
                </a:solidFill>
              </a:rPr>
              <a:t>Update the vessel marker whenever a new activity location is saved.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4128" y="4041648"/>
            <a:ext cx="256032" cy="256032"/>
          </a:xfrm>
          <a:prstGeom prst="ellipse">
            <a:avLst/>
          </a:prstGeom>
          <a:solidFill>
            <a:srgbClr val="138B65"/>
          </a:solidFill>
          <a:ln w="12700">
            <a:solidFill>
              <a:srgbClr val="138B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4105656"/>
            <a:ext cx="25603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81328" y="3950208"/>
            <a:ext cx="5394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43A"/>
                </a:solidFill>
              </a:rPr>
              <a:t>Show only vessels with an active/current voyage.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24128" y="4617720"/>
            <a:ext cx="256032" cy="256032"/>
          </a:xfrm>
          <a:prstGeom prst="ellipse">
            <a:avLst/>
          </a:prstGeom>
          <a:solidFill>
            <a:srgbClr val="138B65"/>
          </a:solidFill>
          <a:ln w="12700">
            <a:solidFill>
              <a:srgbClr val="138B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681728"/>
            <a:ext cx="25603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481328" y="4526280"/>
            <a:ext cx="5394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43A"/>
                </a:solidFill>
              </a:rPr>
              <a:t>Pilot the feature before investing in automatic AIS/GPS tracking.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26680" y="1508760"/>
            <a:ext cx="3730752" cy="4160520"/>
          </a:xfrm>
          <a:prstGeom prst="roundRect">
            <a:avLst>
              <a:gd name="adj" fmla="val 1961"/>
            </a:avLst>
          </a:prstGeom>
          <a:solidFill>
            <a:srgbClr val="102F5E"/>
          </a:solidFill>
          <a:ln w="11430">
            <a:solidFill>
              <a:srgbClr val="102F5E"/>
            </a:solidFill>
            <a:prstDash val="solid"/>
          </a:ln>
          <a:effectLst>
            <a:outerShdw sx="100000" sy="100000" kx="0" ky="0" algn="bl" rotWithShape="0" blurRad="15240" dist="50800" dir="2700000">
              <a:srgbClr val="98A7B8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65008" y="1901952"/>
            <a:ext cx="2926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EE7ED"/>
                </a:solidFill>
              </a:rPr>
              <a:t>RECOMMENDED DECISION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65008" y="2514600"/>
            <a:ext cx="27432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APPROVE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PHASE 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065008" y="391363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D8E8"/>
                </a:solidFill>
              </a:rPr>
              <a:t>Next deliverable: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65008" y="4279392"/>
            <a:ext cx="26974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Working map prototype connected to the existing Voyage and Activity screens.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26280" y="5925312"/>
            <a:ext cx="2834640" cy="329184"/>
          </a:xfrm>
          <a:prstGeom prst="roundRect">
            <a:avLst>
              <a:gd name="adj" fmla="val 41667"/>
            </a:avLst>
          </a:prstGeom>
          <a:solidFill>
            <a:srgbClr val="D19A2A"/>
          </a:solidFill>
          <a:ln w="12700">
            <a:solidFill>
              <a:srgbClr val="D19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5998464"/>
            <a:ext cx="2688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F5E"/>
                </a:solidFill>
              </a:rPr>
              <a:t>QUESTIONS &amp; DISCUSSION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1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Villa Shipping Lines,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Vessel Map Tracking Proposal</dc:title>
  <dc:subject>Map-enabled voyage location monitoring proposal</dc:subject>
  <dc:creator>Villa Group Operations System</dc:creator>
  <cp:lastModifiedBy>Villa Group Operations System</cp:lastModifiedBy>
  <cp:revision>1</cp:revision>
  <dcterms:created xsi:type="dcterms:W3CDTF">2026-09-14T02:23:47Z</dcterms:created>
  <dcterms:modified xsi:type="dcterms:W3CDTF">2026-09-14T02:23:48Z</dcterms:modified>
</cp:coreProperties>
</file>