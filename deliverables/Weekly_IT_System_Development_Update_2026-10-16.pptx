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917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01C11-6E18-1967-0979-6EFE01012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448A4-B4D8-6ACC-9832-EAA9C637B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AFBFC-4834-CD60-2198-5A72FD0B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F1F66-AD67-046F-9F7E-AFE10EF51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03199-04AD-9F70-5CC6-C0B1D573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5072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A691-682F-C866-5A1E-3C88C935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A5CFD-14E7-E788-30C9-25DAC9673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2840-9B40-CDFE-F6A2-12273FFF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F36EE-7866-9B23-6BCD-C9109744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C90F-31B9-5D4B-DE51-3EC727A0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367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489F-D4AE-7E22-B9A1-67065F67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5CF6F-500E-5A9F-E958-FD994A608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C881E-ED52-E9C2-EE6B-BDAC7421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3BC43-08CA-ECBE-9C93-AF1FC367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F4F1A-717B-D54F-F473-F0DC6A65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446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ECE82-6E96-96D1-DDF1-FCE6C8EE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6C81-BB78-C01A-D52E-E5870DD74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6BCA1-D274-1B8B-BA3D-270E39E20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0B57C-26D2-EED3-2DB0-94FD34699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FDDAA-88A0-2A88-3D08-47F1E988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59F93-C339-887C-207B-D0543BB0A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3707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0BED3-5033-BD58-E74F-433358CF6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B1FA9-BD6F-B6AB-4A5F-E5D657DD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4EC12-235C-15CF-B9C8-E9935B801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EDB82A-5533-D3D9-EEA7-D9662BD2F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90CEE-06EF-10FE-36B7-25CEF9DF81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CA5D9-8A11-43AF-BAAE-EC2A9782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5CACED-2ECF-84BB-A760-B8FC582A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8F5AC2-64E6-3C81-8E29-2FA73010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624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EC9B-1658-E062-6C40-E4D5AA7F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3BC15-EC94-E010-1B23-3315837F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E85D6-8001-1D66-1963-5A10FA9C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D8BB6-165C-E8F7-750C-AB787366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556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996E04-11D8-86DD-E306-E625369DE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C57F05-27E1-43D9-FCE5-6FFDC215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92DFD-A1CB-785F-7A9E-0FE2B08F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7882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39E0A-D359-EBB2-A34C-EEBD08C27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C9522-4D1D-56D9-CD2D-A9E95CEA1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89556-DA94-66A9-DE2A-C29B7303E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FC675-68E5-1B89-5999-9939DC7A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94F8A-0935-4634-0834-237452A6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D9C1C-2878-B6A0-DFDC-27403655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484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BDE3-2320-785B-8A4F-ADC3F4C1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D37EEF-85A9-3DDF-4BD9-91B7DABBA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82E2B-9AEB-29FF-71B3-AA612DDBC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2BEEC-6348-1110-AE3A-C4C0BE89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D1DF7-8CA6-4718-33FB-03DE8721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7B527-483E-8996-D5D9-1AB0C1B3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370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A5D4-3262-458F-9439-2AAA8546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E6448-D1EE-621D-21EB-20AC5C343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8306-E76C-B0AF-9152-76418C98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FC05F-C28D-D71E-C8B4-FBD6E41E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9C6D4-375C-BD4D-D4C3-9BF76E6C4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742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FA6E3-0972-25A1-B143-31CC2EECC8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C52C4-FB76-B300-F615-E249E273F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8AD17-1821-8EFE-3250-9FA894DA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8381B-15DF-20AE-6F1D-B4AF9821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35FD9-4670-CD37-8846-4C27568D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993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8C4489-E027-1B7B-9E1A-9977FD10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F79DB-46E7-9A0E-4DBF-DA038EFEE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D8EFB-75E0-B7AA-7CA6-5E733ECD8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AA570-0ECE-45AB-9C63-7182C885724A}" type="datetimeFigureOut">
              <a:rPr lang="en-PH" smtClean="0"/>
              <a:t>10/16/2026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075D0-7A10-BBD7-9492-A83FB70DE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72BA-F2E3-46D0-F4E4-BACADF818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60FFC-45DF-463E-AC05-B34E8FA8DC4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228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FDFCE8-FCD2-D13E-3B9C-478EDFA357D7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D2A52"/>
          </a:solidFill>
          <a:ln w="12700">
            <a:solidFill>
              <a:srgbClr val="0D2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DC2DC-BC42-B17F-AF43-D90B367CFFE7}"/>
              </a:ext>
            </a:extLst>
          </p:cNvPr>
          <p:cNvSpPr/>
          <p:nvPr/>
        </p:nvSpPr>
        <p:spPr>
          <a:xfrm>
            <a:off x="0" y="0"/>
            <a:ext cx="228600" cy="5715000"/>
          </a:xfrm>
          <a:prstGeom prst="rect">
            <a:avLst/>
          </a:prstGeom>
          <a:solidFill>
            <a:srgbClr val="EBB32A"/>
          </a:solidFill>
          <a:ln w="12700">
            <a:solidFill>
              <a:srgbClr val="EBB3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079EBD-BBF1-4500-BDFD-C875AD55893B}"/>
              </a:ext>
            </a:extLst>
          </p:cNvPr>
          <p:cNvSpPr txBox="1"/>
          <p:nvPr/>
        </p:nvSpPr>
        <p:spPr>
          <a:xfrm>
            <a:off x="736600" y="1016000"/>
            <a:ext cx="825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200" b="1">
                <a:solidFill>
                  <a:srgbClr val="19A9CD"/>
                </a:solidFill>
                <a:latin typeface="Aptos" panose="020B0004020202020204" pitchFamily="34" charset="0"/>
              </a:rPr>
              <a:t>WEEKLY SYSTEMS DEVELOPMENT UPDATE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775B3-A541-D54C-A427-3B020A191F60}"/>
              </a:ext>
            </a:extLst>
          </p:cNvPr>
          <p:cNvSpPr txBox="1"/>
          <p:nvPr/>
        </p:nvSpPr>
        <p:spPr>
          <a:xfrm>
            <a:off x="736600" y="1676400"/>
            <a:ext cx="9652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3400" b="1">
                <a:solidFill>
                  <a:srgbClr val="FFFFFF"/>
                </a:solidFill>
                <a:latin typeface="Aptos" panose="020B0004020202020204" pitchFamily="34" charset="0"/>
              </a:rPr>
              <a:t>Vessel Operations,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BD53D-AC21-0393-1158-5F9ACF21D1B6}"/>
              </a:ext>
            </a:extLst>
          </p:cNvPr>
          <p:cNvSpPr txBox="1"/>
          <p:nvPr/>
        </p:nvSpPr>
        <p:spPr>
          <a:xfrm>
            <a:off x="736600" y="2387600"/>
            <a:ext cx="10160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3400" b="1">
                <a:solidFill>
                  <a:srgbClr val="FFFFFF"/>
                </a:solidFill>
                <a:latin typeface="Aptos" panose="020B0004020202020204" pitchFamily="34" charset="0"/>
              </a:rPr>
              <a:t>Tracking &amp; AIS Readiness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B7738-3B94-95B1-8D7B-0BE9FEDB9B97}"/>
              </a:ext>
            </a:extLst>
          </p:cNvPr>
          <p:cNvSpPr txBox="1"/>
          <p:nvPr/>
        </p:nvSpPr>
        <p:spPr>
          <a:xfrm>
            <a:off x="736600" y="3429000"/>
            <a:ext cx="8890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>
                <a:solidFill>
                  <a:srgbClr val="CDDCEF"/>
                </a:solidFill>
                <a:latin typeface="Aptos" panose="020B0004020202020204" pitchFamily="34" charset="0"/>
              </a:rPr>
              <a:t>Progress report covering voyage-route enhancements, role-based vessel access, AIS integration coordination, and testing deployment.</a:t>
            </a:r>
            <a:endParaRPr lang="en-PH" sz="1600">
              <a:solidFill>
                <a:srgbClr val="CDDCEF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0D3BA1-7C5A-3E84-AF64-BA3D8A0B2535}"/>
              </a:ext>
            </a:extLst>
          </p:cNvPr>
          <p:cNvSpPr/>
          <p:nvPr/>
        </p:nvSpPr>
        <p:spPr>
          <a:xfrm>
            <a:off x="736600" y="4775200"/>
            <a:ext cx="3733800" cy="787400"/>
          </a:xfrm>
          <a:prstGeom prst="roundRect">
            <a:avLst/>
          </a:prstGeom>
          <a:solidFill>
            <a:srgbClr val="183D6C"/>
          </a:solidFill>
          <a:ln w="12700">
            <a:solidFill>
              <a:srgbClr val="385D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985C36-C541-FD43-E288-9F4859A69EA3}"/>
              </a:ext>
            </a:extLst>
          </p:cNvPr>
          <p:cNvSpPr txBox="1"/>
          <p:nvPr/>
        </p:nvSpPr>
        <p:spPr>
          <a:xfrm>
            <a:off x="965200" y="4940300"/>
            <a:ext cx="1651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9A9CD"/>
                </a:solidFill>
                <a:latin typeface="Aptos" panose="020B0004020202020204" pitchFamily="34" charset="0"/>
              </a:rPr>
              <a:t>REPORTING PERIOD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3C48C-7904-4A78-2450-BBAAFD50795B}"/>
              </a:ext>
            </a:extLst>
          </p:cNvPr>
          <p:cNvSpPr txBox="1"/>
          <p:nvPr/>
        </p:nvSpPr>
        <p:spPr>
          <a:xfrm>
            <a:off x="965200" y="5181600"/>
            <a:ext cx="3048000" cy="21608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ptos" panose="020B0004020202020204" pitchFamily="34" charset="0"/>
              </a:rPr>
              <a:t>October 12â€“16,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3A9890-12FD-74C4-B6A9-3C9AD37F78D1}"/>
              </a:ext>
            </a:extLst>
          </p:cNvPr>
          <p:cNvSpPr txBox="1"/>
          <p:nvPr/>
        </p:nvSpPr>
        <p:spPr>
          <a:xfrm>
            <a:off x="736600" y="6070600"/>
            <a:ext cx="4572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>
                <a:solidFill>
                  <a:srgbClr val="B5C9E3"/>
                </a:solidFill>
                <a:latin typeface="Aptos" panose="020B0004020202020204" pitchFamily="34" charset="0"/>
              </a:rPr>
              <a:t>Prepared by: IT Department</a:t>
            </a:r>
          </a:p>
        </p:txBody>
      </p:sp>
    </p:spTree>
    <p:extLst>
      <p:ext uri="{BB962C8B-B14F-4D97-AF65-F5344CB8AC3E}">
        <p14:creationId xmlns:p14="http://schemas.microsoft.com/office/powerpoint/2010/main" val="233495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CDFFCE-D15E-1696-F5C7-FEDA87FD47B8}"/>
              </a:ext>
            </a:extLst>
          </p:cNvPr>
          <p:cNvSpPr txBox="1"/>
          <p:nvPr/>
        </p:nvSpPr>
        <p:spPr>
          <a:xfrm>
            <a:off x="609600" y="355600"/>
            <a:ext cx="787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19A9CD"/>
                </a:solidFill>
                <a:latin typeface="Aptos" panose="020B0004020202020204" pitchFamily="34" charset="0"/>
              </a:rPr>
              <a:t>EXECUTIVE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A902E-6C38-C340-CAE8-65D7D270A667}"/>
              </a:ext>
            </a:extLst>
          </p:cNvPr>
          <p:cNvSpPr txBox="1"/>
          <p:nvPr/>
        </p:nvSpPr>
        <p:spPr>
          <a:xfrm>
            <a:off x="609600" y="6604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D2A52"/>
                </a:solidFill>
                <a:latin typeface="Aptos" panose="020B0004020202020204" pitchFamily="34" charset="0"/>
              </a:rPr>
              <a:t>This week at a glance</a:t>
            </a:r>
            <a:endParaRPr lang="en-PH" sz="2800" b="1">
              <a:solidFill>
                <a:srgbClr val="0D2A5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04DD64-53BE-9055-8EC6-084A74E6D92A}"/>
              </a:ext>
            </a:extLst>
          </p:cNvPr>
          <p:cNvSpPr txBox="1"/>
          <p:nvPr/>
        </p:nvSpPr>
        <p:spPr>
          <a:xfrm>
            <a:off x="609600" y="1244600"/>
            <a:ext cx="1041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6768A"/>
                </a:solidFill>
                <a:latin typeface="Aptos" panose="020B0004020202020204" pitchFamily="34" charset="0"/>
              </a:rPr>
              <a:t>Four workstreams moved forward, with the AIS connection dependent on provider activation.</a:t>
            </a:r>
            <a:endParaRPr lang="en-PH" sz="13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603622-0CF2-50C6-F2C3-0818741E7D48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31B10F-9DF3-7845-9310-39DB792CAAAD}"/>
              </a:ext>
            </a:extLst>
          </p:cNvPr>
          <p:cNvSpPr/>
          <p:nvPr/>
        </p:nvSpPr>
        <p:spPr>
          <a:xfrm>
            <a:off x="609600" y="2082800"/>
            <a:ext cx="2438400" cy="332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A2031E-73B4-C5B0-BA04-307D68735EB7}"/>
              </a:ext>
            </a:extLst>
          </p:cNvPr>
          <p:cNvSpPr/>
          <p:nvPr/>
        </p:nvSpPr>
        <p:spPr>
          <a:xfrm>
            <a:off x="609600" y="2082800"/>
            <a:ext cx="2438400" cy="101600"/>
          </a:xfrm>
          <a:prstGeom prst="rect">
            <a:avLst/>
          </a:prstGeom>
          <a:solidFill>
            <a:srgbClr val="225BAA"/>
          </a:solidFill>
          <a:ln w="12700">
            <a:solidFill>
              <a:srgbClr val="225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85819B-62C2-0079-7EEF-3CEDE82C0125}"/>
              </a:ext>
            </a:extLst>
          </p:cNvPr>
          <p:cNvSpPr txBox="1"/>
          <p:nvPr/>
        </p:nvSpPr>
        <p:spPr>
          <a:xfrm>
            <a:off x="838200" y="2387600"/>
            <a:ext cx="1981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0D2A52"/>
                </a:solidFill>
                <a:latin typeface="Aptos" panose="020B0004020202020204" pitchFamily="34" charset="0"/>
              </a:rPr>
              <a:t>Voyage Routing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E78148-074B-7529-BAE8-3F29389D320E}"/>
              </a:ext>
            </a:extLst>
          </p:cNvPr>
          <p:cNvSpPr/>
          <p:nvPr/>
        </p:nvSpPr>
        <p:spPr>
          <a:xfrm>
            <a:off x="838200" y="2921000"/>
            <a:ext cx="1905000" cy="33020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EFF5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DDD8B3-0CC3-A883-31A5-FCA395F3353D}"/>
              </a:ext>
            </a:extLst>
          </p:cNvPr>
          <p:cNvSpPr txBox="1"/>
          <p:nvPr/>
        </p:nvSpPr>
        <p:spPr>
          <a:xfrm>
            <a:off x="965200" y="2997200"/>
            <a:ext cx="167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225BAA"/>
                </a:solidFill>
                <a:latin typeface="Aptos" panose="020B0004020202020204" pitchFamily="34" charset="0"/>
              </a:rPr>
              <a:t>ENHANCED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16F7E4-E553-9489-76D8-844463760F4B}"/>
              </a:ext>
            </a:extLst>
          </p:cNvPr>
          <p:cNvSpPr txBox="1"/>
          <p:nvPr/>
        </p:nvSpPr>
        <p:spPr>
          <a:xfrm>
            <a:off x="838200" y="3556000"/>
            <a:ext cx="1981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6768A"/>
                </a:solidFill>
                <a:latin typeface="Aptos" panose="020B0004020202020204" pitchFamily="34" charset="0"/>
              </a:rPr>
              <a:t>Auto-generated and manual route options improved, including editable route points.</a:t>
            </a:r>
            <a:endParaRPr lang="en-PH" sz="12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F855C2-433E-D9AD-A9B7-2E3BA6F38508}"/>
              </a:ext>
            </a:extLst>
          </p:cNvPr>
          <p:cNvSpPr/>
          <p:nvPr/>
        </p:nvSpPr>
        <p:spPr>
          <a:xfrm>
            <a:off x="3454400" y="2082800"/>
            <a:ext cx="2438400" cy="332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77D639-5B5E-98C2-8C7D-5BA213F62BE3}"/>
              </a:ext>
            </a:extLst>
          </p:cNvPr>
          <p:cNvSpPr/>
          <p:nvPr/>
        </p:nvSpPr>
        <p:spPr>
          <a:xfrm>
            <a:off x="3454400" y="2082800"/>
            <a:ext cx="2438400" cy="101600"/>
          </a:xfrm>
          <a:prstGeom prst="rect">
            <a:avLst/>
          </a:prstGeom>
          <a:solidFill>
            <a:srgbClr val="1F9768"/>
          </a:solidFill>
          <a:ln w="12700">
            <a:solidFill>
              <a:srgbClr val="1F97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FA874-F487-C8F4-FFC4-F048C1FD37B5}"/>
              </a:ext>
            </a:extLst>
          </p:cNvPr>
          <p:cNvSpPr txBox="1"/>
          <p:nvPr/>
        </p:nvSpPr>
        <p:spPr>
          <a:xfrm>
            <a:off x="3683000" y="2387600"/>
            <a:ext cx="1981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0D2A52"/>
                </a:solidFill>
                <a:latin typeface="Aptos" panose="020B0004020202020204" pitchFamily="34" charset="0"/>
              </a:rPr>
              <a:t>Vessel Access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276EA1-5F24-A5CF-0AF0-F4E366DBE0DE}"/>
              </a:ext>
            </a:extLst>
          </p:cNvPr>
          <p:cNvSpPr/>
          <p:nvPr/>
        </p:nvSpPr>
        <p:spPr>
          <a:xfrm>
            <a:off x="3683000" y="2921000"/>
            <a:ext cx="1905000" cy="33020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EFF5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18121-AC49-396F-C82B-B27436D5E16C}"/>
              </a:ext>
            </a:extLst>
          </p:cNvPr>
          <p:cNvSpPr txBox="1"/>
          <p:nvPr/>
        </p:nvSpPr>
        <p:spPr>
          <a:xfrm>
            <a:off x="3810000" y="2997200"/>
            <a:ext cx="167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1F9768"/>
                </a:solidFill>
                <a:latin typeface="Aptos" panose="020B0004020202020204" pitchFamily="34" charset="0"/>
              </a:rPr>
              <a:t>DEPLOYED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7994F-2BC3-940B-236F-69562FF4793B}"/>
              </a:ext>
            </a:extLst>
          </p:cNvPr>
          <p:cNvSpPr txBox="1"/>
          <p:nvPr/>
        </p:nvSpPr>
        <p:spPr>
          <a:xfrm>
            <a:off x="3683000" y="3556000"/>
            <a:ext cx="1981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6768A"/>
                </a:solidFill>
                <a:latin typeface="Aptos" panose="020B0004020202020204" pitchFamily="34" charset="0"/>
              </a:rPr>
              <a:t>Operations Manager and vessel-specific Operation Manager access are now separated.</a:t>
            </a:r>
            <a:endParaRPr lang="en-PH" sz="12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809D22E-F374-4DB8-8993-9F20A4283F75}"/>
              </a:ext>
            </a:extLst>
          </p:cNvPr>
          <p:cNvSpPr/>
          <p:nvPr/>
        </p:nvSpPr>
        <p:spPr>
          <a:xfrm>
            <a:off x="6299200" y="2082800"/>
            <a:ext cx="2438400" cy="332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37378E-7C57-5F5E-FF8B-4BE6CEEAF776}"/>
              </a:ext>
            </a:extLst>
          </p:cNvPr>
          <p:cNvSpPr/>
          <p:nvPr/>
        </p:nvSpPr>
        <p:spPr>
          <a:xfrm>
            <a:off x="6299200" y="2082800"/>
            <a:ext cx="2438400" cy="10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5187A7-0529-6F4D-3C29-5002B2031359}"/>
              </a:ext>
            </a:extLst>
          </p:cNvPr>
          <p:cNvSpPr txBox="1"/>
          <p:nvPr/>
        </p:nvSpPr>
        <p:spPr>
          <a:xfrm>
            <a:off x="6527800" y="2387600"/>
            <a:ext cx="1981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0D2A52"/>
                </a:solidFill>
                <a:latin typeface="Aptos" panose="020B0004020202020204" pitchFamily="34" charset="0"/>
              </a:rPr>
              <a:t>AIS Integration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E054E7-4AC3-D0C4-DF04-2E0324B966F9}"/>
              </a:ext>
            </a:extLst>
          </p:cNvPr>
          <p:cNvSpPr/>
          <p:nvPr/>
        </p:nvSpPr>
        <p:spPr>
          <a:xfrm>
            <a:off x="6527800" y="2921000"/>
            <a:ext cx="1905000" cy="33020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EFF5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2CCFF6-FA4B-8493-A289-92146D6A3153}"/>
              </a:ext>
            </a:extLst>
          </p:cNvPr>
          <p:cNvSpPr txBox="1"/>
          <p:nvPr/>
        </p:nvSpPr>
        <p:spPr>
          <a:xfrm>
            <a:off x="6654800" y="2997200"/>
            <a:ext cx="167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E67E22"/>
                </a:solidFill>
                <a:latin typeface="Aptos" panose="020B0004020202020204" pitchFamily="34" charset="0"/>
              </a:rPr>
              <a:t>AWAITING PROVIDER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A9817-7131-B2DB-F35F-10474C8D3ECB}"/>
              </a:ext>
            </a:extLst>
          </p:cNvPr>
          <p:cNvSpPr txBox="1"/>
          <p:nvPr/>
        </p:nvSpPr>
        <p:spPr>
          <a:xfrm>
            <a:off x="6527800" y="3556000"/>
            <a:ext cx="19812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6768A"/>
                </a:solidFill>
                <a:latin typeface="Aptos" panose="020B0004020202020204" pitchFamily="34" charset="0"/>
              </a:rPr>
              <a:t>Kpler/MarineTraffic account and requirements submitted; commercial activation pending.</a:t>
            </a:r>
            <a:endParaRPr lang="en-PH" sz="12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412781-E531-E8D3-04F0-A690B529EFD0}"/>
              </a:ext>
            </a:extLst>
          </p:cNvPr>
          <p:cNvSpPr/>
          <p:nvPr/>
        </p:nvSpPr>
        <p:spPr>
          <a:xfrm>
            <a:off x="9144000" y="2082800"/>
            <a:ext cx="2438400" cy="332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783914-1C0A-D6BA-C8FE-FCF69652A6AE}"/>
              </a:ext>
            </a:extLst>
          </p:cNvPr>
          <p:cNvSpPr/>
          <p:nvPr/>
        </p:nvSpPr>
        <p:spPr>
          <a:xfrm>
            <a:off x="9144000" y="2082800"/>
            <a:ext cx="2438400" cy="101600"/>
          </a:xfrm>
          <a:prstGeom prst="rect">
            <a:avLst/>
          </a:prstGeom>
          <a:solidFill>
            <a:srgbClr val="19A9CD"/>
          </a:solidFill>
          <a:ln w="12700">
            <a:solidFill>
              <a:srgbClr val="19A9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F36852-05E1-4D5D-0FB1-B0408FBC6226}"/>
              </a:ext>
            </a:extLst>
          </p:cNvPr>
          <p:cNvSpPr txBox="1"/>
          <p:nvPr/>
        </p:nvSpPr>
        <p:spPr>
          <a:xfrm>
            <a:off x="9372600" y="2387600"/>
            <a:ext cx="19812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600" b="1">
                <a:solidFill>
                  <a:srgbClr val="0D2A52"/>
                </a:solidFill>
                <a:latin typeface="Aptos" panose="020B0004020202020204" pitchFamily="34" charset="0"/>
              </a:rPr>
              <a:t>System Testing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BD78180-F781-EBEE-1BAB-E98270321641}"/>
              </a:ext>
            </a:extLst>
          </p:cNvPr>
          <p:cNvSpPr/>
          <p:nvPr/>
        </p:nvSpPr>
        <p:spPr>
          <a:xfrm>
            <a:off x="9372600" y="2921000"/>
            <a:ext cx="1905000" cy="33020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EFF5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0938C2-0CD0-C7F6-65BE-2B9DFA28B5DA}"/>
              </a:ext>
            </a:extLst>
          </p:cNvPr>
          <p:cNvSpPr txBox="1"/>
          <p:nvPr/>
        </p:nvSpPr>
        <p:spPr>
          <a:xfrm>
            <a:off x="9499600" y="2997200"/>
            <a:ext cx="16764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800" b="1">
                <a:solidFill>
                  <a:srgbClr val="19A9CD"/>
                </a:solidFill>
                <a:latin typeface="Aptos" panose="020B0004020202020204" pitchFamily="34" charset="0"/>
              </a:rPr>
              <a:t>READY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D9BDB2-390C-5FD3-8F6A-2A05B1DCDABD}"/>
              </a:ext>
            </a:extLst>
          </p:cNvPr>
          <p:cNvSpPr txBox="1"/>
          <p:nvPr/>
        </p:nvSpPr>
        <p:spPr>
          <a:xfrm>
            <a:off x="9372600" y="3556000"/>
            <a:ext cx="1981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6768A"/>
                </a:solidFill>
                <a:latin typeface="Aptos" panose="020B0004020202020204" pitchFamily="34" charset="0"/>
              </a:rPr>
              <a:t>Testing release deployed and verified with targeted automated test coverage.</a:t>
            </a:r>
            <a:endParaRPr lang="en-PH" sz="12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5255308-EA6B-2E0C-4762-99D780EED415}"/>
              </a:ext>
            </a:extLst>
          </p:cNvPr>
          <p:cNvSpPr/>
          <p:nvPr/>
        </p:nvSpPr>
        <p:spPr>
          <a:xfrm>
            <a:off x="609600" y="5715000"/>
            <a:ext cx="10972800" cy="5588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F2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C0A87E-8132-395C-CDDE-B9865B9A4BC0}"/>
              </a:ext>
            </a:extLst>
          </p:cNvPr>
          <p:cNvSpPr txBox="1"/>
          <p:nvPr/>
        </p:nvSpPr>
        <p:spPr>
          <a:xfrm>
            <a:off x="838200" y="5892800"/>
            <a:ext cx="1397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66768A"/>
                </a:solidFill>
                <a:latin typeface="Aptos" panose="020B0004020202020204" pitchFamily="34" charset="0"/>
              </a:rPr>
              <a:t>Overall status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C2267-04FC-8B52-4951-1E24F5ED5775}"/>
              </a:ext>
            </a:extLst>
          </p:cNvPr>
          <p:cNvSpPr txBox="1"/>
          <p:nvPr/>
        </p:nvSpPr>
        <p:spPr>
          <a:xfrm>
            <a:off x="2209800" y="5854700"/>
            <a:ext cx="90424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1C2B3E"/>
                </a:solidFill>
                <a:latin typeface="Aptos" panose="020B0004020202020204" pitchFamily="34" charset="0"/>
              </a:rPr>
              <a:t>Core system improvements are deployed for testing; external AIS activation remains the primary dependency.</a:t>
            </a:r>
            <a:endParaRPr lang="en-PH" sz="1200" b="1">
              <a:solidFill>
                <a:srgbClr val="1C2B3E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286320-A6B3-FF83-30B4-0FA24CDD65A7}"/>
              </a:ext>
            </a:extLst>
          </p:cNvPr>
          <p:cNvSpPr txBox="1"/>
          <p:nvPr/>
        </p:nvSpPr>
        <p:spPr>
          <a:xfrm>
            <a:off x="609600" y="6553200"/>
            <a:ext cx="825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66768A"/>
                </a:solidFill>
                <a:latin typeface="Aptos" panose="020B0004020202020204" pitchFamily="34" charset="0"/>
              </a:rPr>
              <a:t>VILLA GROUP OF COMPANIES  â€¢  INTERNAL MANAGEMENT UPDATE</a:t>
            </a:r>
            <a:endParaRPr lang="en-PH" sz="800" b="1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A6ACDA-8596-4E16-F2A4-5DF425E45F4D}"/>
              </a:ext>
            </a:extLst>
          </p:cNvPr>
          <p:cNvSpPr txBox="1"/>
          <p:nvPr/>
        </p:nvSpPr>
        <p:spPr>
          <a:xfrm>
            <a:off x="11226800" y="6515100"/>
            <a:ext cx="35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66768A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1869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06F789-76E3-75C0-0135-E81F88AD36B5}"/>
              </a:ext>
            </a:extLst>
          </p:cNvPr>
          <p:cNvSpPr txBox="1"/>
          <p:nvPr/>
        </p:nvSpPr>
        <p:spPr>
          <a:xfrm>
            <a:off x="609600" y="355600"/>
            <a:ext cx="787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19A9CD"/>
                </a:solidFill>
                <a:latin typeface="Aptos" panose="020B0004020202020204" pitchFamily="34" charset="0"/>
              </a:rPr>
              <a:t>VOYAGE TRACKING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714D3-0E02-D596-12AD-BEB1E3AD7D7D}"/>
              </a:ext>
            </a:extLst>
          </p:cNvPr>
          <p:cNvSpPr txBox="1"/>
          <p:nvPr/>
        </p:nvSpPr>
        <p:spPr>
          <a:xfrm>
            <a:off x="609600" y="6604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D2A52"/>
                </a:solidFill>
                <a:latin typeface="Aptos" panose="020B0004020202020204" pitchFamily="34" charset="0"/>
              </a:rPr>
              <a:t>Improved route planning and actual-track visibility</a:t>
            </a:r>
            <a:endParaRPr lang="en-PH" sz="2800" b="1">
              <a:solidFill>
                <a:srgbClr val="0D2A5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EE071-5418-71FD-18E7-C07720BCAC8E}"/>
              </a:ext>
            </a:extLst>
          </p:cNvPr>
          <p:cNvSpPr txBox="1"/>
          <p:nvPr/>
        </p:nvSpPr>
        <p:spPr>
          <a:xfrm>
            <a:off x="609600" y="1244600"/>
            <a:ext cx="1041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6768A"/>
                </a:solidFill>
                <a:latin typeface="Aptos" panose="020B0004020202020204" pitchFamily="34" charset="0"/>
              </a:rPr>
              <a:t>The planned route remains available while actual vessel updates create a distinct operational track.</a:t>
            </a:r>
            <a:endParaRPr lang="en-PH" sz="13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1A1E29-C28D-C144-3BAD-3C588FC72737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0C643E-4EC5-2888-23AB-7DF6E318C4DC}"/>
              </a:ext>
            </a:extLst>
          </p:cNvPr>
          <p:cNvSpPr/>
          <p:nvPr/>
        </p:nvSpPr>
        <p:spPr>
          <a:xfrm>
            <a:off x="736600" y="2133600"/>
            <a:ext cx="3098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C0FFD7-B501-7A6A-7979-EAC518BF4EA4}"/>
              </a:ext>
            </a:extLst>
          </p:cNvPr>
          <p:cNvSpPr/>
          <p:nvPr/>
        </p:nvSpPr>
        <p:spPr>
          <a:xfrm>
            <a:off x="965200" y="2362200"/>
            <a:ext cx="533400" cy="533400"/>
          </a:xfrm>
          <a:prstGeom prst="roundRect">
            <a:avLst/>
          </a:prstGeom>
          <a:solidFill>
            <a:srgbClr val="225BAA"/>
          </a:solidFill>
          <a:ln w="12700">
            <a:solidFill>
              <a:srgbClr val="225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FC96B-750D-5471-C93B-6E8AAC5D3B43}"/>
              </a:ext>
            </a:extLst>
          </p:cNvPr>
          <p:cNvSpPr txBox="1"/>
          <p:nvPr/>
        </p:nvSpPr>
        <p:spPr>
          <a:xfrm>
            <a:off x="1104900" y="25146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9E2F1-7A00-746D-3D35-C9856FC77C06}"/>
              </a:ext>
            </a:extLst>
          </p:cNvPr>
          <p:cNvSpPr txBox="1"/>
          <p:nvPr/>
        </p:nvSpPr>
        <p:spPr>
          <a:xfrm>
            <a:off x="1676400" y="2425700"/>
            <a:ext cx="1752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700" b="1">
                <a:solidFill>
                  <a:srgbClr val="0D2A52"/>
                </a:solidFill>
                <a:latin typeface="Aptos" panose="020B0004020202020204" pitchFamily="34" charset="0"/>
              </a:rPr>
              <a:t>Plan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0A4A9A-7416-D770-D81F-8D6067E365FE}"/>
              </a:ext>
            </a:extLst>
          </p:cNvPr>
          <p:cNvSpPr txBox="1"/>
          <p:nvPr/>
        </p:nvSpPr>
        <p:spPr>
          <a:xfrm>
            <a:off x="965200" y="3124200"/>
            <a:ext cx="25908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6768A"/>
                </a:solidFill>
                <a:latin typeface="Aptos" panose="020B0004020202020204" pitchFamily="34" charset="0"/>
              </a:rPr>
              <a:t>Generate a suggested route or draw a manual route on the map.</a:t>
            </a:r>
            <a:endParaRPr lang="en-PH" sz="12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08B3AD-5777-BFAB-ADD2-39208F307D1C}"/>
              </a:ext>
            </a:extLst>
          </p:cNvPr>
          <p:cNvSpPr/>
          <p:nvPr/>
        </p:nvSpPr>
        <p:spPr>
          <a:xfrm>
            <a:off x="4318000" y="2133600"/>
            <a:ext cx="3098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6FF7D89-3D9F-B363-1D6B-DF745C87FB30}"/>
              </a:ext>
            </a:extLst>
          </p:cNvPr>
          <p:cNvSpPr/>
          <p:nvPr/>
        </p:nvSpPr>
        <p:spPr>
          <a:xfrm>
            <a:off x="4546600" y="2362200"/>
            <a:ext cx="533400" cy="533400"/>
          </a:xfrm>
          <a:prstGeom prst="roundRect">
            <a:avLst/>
          </a:prstGeom>
          <a:solidFill>
            <a:srgbClr val="19A9CD"/>
          </a:solidFill>
          <a:ln w="12700">
            <a:solidFill>
              <a:srgbClr val="19A9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4BFD21-66E4-4490-E269-CDAAC4FBBAEB}"/>
              </a:ext>
            </a:extLst>
          </p:cNvPr>
          <p:cNvSpPr txBox="1"/>
          <p:nvPr/>
        </p:nvSpPr>
        <p:spPr>
          <a:xfrm>
            <a:off x="4686300" y="25146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9339D-15BB-6D97-3CF2-C3EFDA1FD1E0}"/>
              </a:ext>
            </a:extLst>
          </p:cNvPr>
          <p:cNvSpPr txBox="1"/>
          <p:nvPr/>
        </p:nvSpPr>
        <p:spPr>
          <a:xfrm>
            <a:off x="5257800" y="2425700"/>
            <a:ext cx="1752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700" b="1">
                <a:solidFill>
                  <a:srgbClr val="0D2A52"/>
                </a:solidFill>
                <a:latin typeface="Aptos" panose="020B0004020202020204" pitchFamily="34" charset="0"/>
              </a:rPr>
              <a:t>Track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45CD5E-BA0B-FE7F-6522-E20A9FE274BA}"/>
              </a:ext>
            </a:extLst>
          </p:cNvPr>
          <p:cNvSpPr txBox="1"/>
          <p:nvPr/>
        </p:nvSpPr>
        <p:spPr>
          <a:xfrm>
            <a:off x="4546600" y="3124200"/>
            <a:ext cx="25908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6768A"/>
                </a:solidFill>
                <a:latin typeface="Aptos" panose="020B0004020202020204" pitchFamily="34" charset="0"/>
              </a:rPr>
              <a:t>Recorded vessel positions create a separate traveled line.</a:t>
            </a:r>
            <a:endParaRPr lang="en-PH" sz="12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E9C5AC-EFD2-A0DE-D65D-B4280124103A}"/>
              </a:ext>
            </a:extLst>
          </p:cNvPr>
          <p:cNvSpPr/>
          <p:nvPr/>
        </p:nvSpPr>
        <p:spPr>
          <a:xfrm>
            <a:off x="7899400" y="2133600"/>
            <a:ext cx="3098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6FDF52-B1BE-BCB0-8D9D-CC503E1A1D24}"/>
              </a:ext>
            </a:extLst>
          </p:cNvPr>
          <p:cNvSpPr/>
          <p:nvPr/>
        </p:nvSpPr>
        <p:spPr>
          <a:xfrm>
            <a:off x="8128000" y="2362200"/>
            <a:ext cx="533400" cy="533400"/>
          </a:xfrm>
          <a:prstGeom prst="roundRect">
            <a:avLst/>
          </a:prstGeom>
          <a:solidFill>
            <a:srgbClr val="1F9768"/>
          </a:solidFill>
          <a:ln w="12700">
            <a:solidFill>
              <a:srgbClr val="1F97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52A565-B1C7-C8B3-2472-D5C91265FEFA}"/>
              </a:ext>
            </a:extLst>
          </p:cNvPr>
          <p:cNvSpPr txBox="1"/>
          <p:nvPr/>
        </p:nvSpPr>
        <p:spPr>
          <a:xfrm>
            <a:off x="8267700" y="2514600"/>
            <a:ext cx="3556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65A82-2309-1165-426B-DB5FF6A4D2DD}"/>
              </a:ext>
            </a:extLst>
          </p:cNvPr>
          <p:cNvSpPr txBox="1"/>
          <p:nvPr/>
        </p:nvSpPr>
        <p:spPr>
          <a:xfrm>
            <a:off x="8839200" y="2425700"/>
            <a:ext cx="1752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700" b="1">
                <a:solidFill>
                  <a:srgbClr val="0D2A52"/>
                </a:solidFill>
                <a:latin typeface="Aptos" panose="020B0004020202020204" pitchFamily="34" charset="0"/>
              </a:rPr>
              <a:t>Complete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B32863-F239-0C0F-1116-C4597C7326D8}"/>
              </a:ext>
            </a:extLst>
          </p:cNvPr>
          <p:cNvSpPr txBox="1"/>
          <p:nvPr/>
        </p:nvSpPr>
        <p:spPr>
          <a:xfrm>
            <a:off x="8128000" y="3124200"/>
            <a:ext cx="25908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6768A"/>
                </a:solidFill>
                <a:latin typeface="Aptos" panose="020B0004020202020204" pitchFamily="34" charset="0"/>
              </a:rPr>
              <a:t>Connect the latest position to the remaining planned route and destination.</a:t>
            </a:r>
            <a:endParaRPr lang="en-PH" sz="12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FCE184-4300-9F1F-2CC8-22160CE9C33E}"/>
              </a:ext>
            </a:extLst>
          </p:cNvPr>
          <p:cNvCxnSpPr/>
          <p:nvPr/>
        </p:nvCxnSpPr>
        <p:spPr>
          <a:xfrm>
            <a:off x="3835400" y="3086100"/>
            <a:ext cx="431800" cy="0"/>
          </a:xfrm>
          <a:prstGeom prst="line">
            <a:avLst/>
          </a:prstGeom>
          <a:ln w="38100">
            <a:solidFill>
              <a:srgbClr val="EBB3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E6B60-9F8D-1827-94D0-2E0EFF6C87FB}"/>
              </a:ext>
            </a:extLst>
          </p:cNvPr>
          <p:cNvCxnSpPr/>
          <p:nvPr/>
        </p:nvCxnSpPr>
        <p:spPr>
          <a:xfrm>
            <a:off x="7416800" y="3086100"/>
            <a:ext cx="431800" cy="0"/>
          </a:xfrm>
          <a:prstGeom prst="line">
            <a:avLst/>
          </a:prstGeom>
          <a:ln w="38100">
            <a:solidFill>
              <a:srgbClr val="EBB3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035710A-9ABB-031C-CC49-1883B084650C}"/>
              </a:ext>
            </a:extLst>
          </p:cNvPr>
          <p:cNvSpPr txBox="1"/>
          <p:nvPr/>
        </p:nvSpPr>
        <p:spPr>
          <a:xfrm>
            <a:off x="736600" y="4445000"/>
            <a:ext cx="241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66768A"/>
                </a:solidFill>
                <a:latin typeface="Aptos" panose="020B0004020202020204" pitchFamily="34" charset="0"/>
              </a:rPr>
              <a:t>ROUTE VISUALIZATION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7B0244-B05F-58ED-BD2E-A6AA37BB6090}"/>
              </a:ext>
            </a:extLst>
          </p:cNvPr>
          <p:cNvCxnSpPr/>
          <p:nvPr/>
        </p:nvCxnSpPr>
        <p:spPr>
          <a:xfrm flipV="1">
            <a:off x="939800" y="4787900"/>
            <a:ext cx="2489200" cy="431800"/>
          </a:xfrm>
          <a:prstGeom prst="line">
            <a:avLst/>
          </a:prstGeom>
          <a:ln w="63500">
            <a:solidFill>
              <a:srgbClr val="225B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9561692-A93C-743F-B37F-293B3C755BDC}"/>
              </a:ext>
            </a:extLst>
          </p:cNvPr>
          <p:cNvCxnSpPr/>
          <p:nvPr/>
        </p:nvCxnSpPr>
        <p:spPr>
          <a:xfrm>
            <a:off x="3429000" y="4787900"/>
            <a:ext cx="2336800" cy="673100"/>
          </a:xfrm>
          <a:prstGeom prst="line">
            <a:avLst/>
          </a:prstGeom>
          <a:ln w="63500">
            <a:solidFill>
              <a:srgbClr val="225B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67BC71-8B4D-2D3D-6924-5522566236D3}"/>
              </a:ext>
            </a:extLst>
          </p:cNvPr>
          <p:cNvCxnSpPr/>
          <p:nvPr/>
        </p:nvCxnSpPr>
        <p:spPr>
          <a:xfrm flipV="1">
            <a:off x="939800" y="5207000"/>
            <a:ext cx="2209800" cy="266700"/>
          </a:xfrm>
          <a:prstGeom prst="line">
            <a:avLst/>
          </a:prstGeom>
          <a:ln w="63500">
            <a:solidFill>
              <a:srgbClr val="19A9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D78C22D-5E9B-0E1A-4FD6-CDAFB6493E00}"/>
              </a:ext>
            </a:extLst>
          </p:cNvPr>
          <p:cNvCxnSpPr/>
          <p:nvPr/>
        </p:nvCxnSpPr>
        <p:spPr>
          <a:xfrm>
            <a:off x="3149600" y="5207000"/>
            <a:ext cx="2616200" cy="254000"/>
          </a:xfrm>
          <a:prstGeom prst="line">
            <a:avLst/>
          </a:prstGeom>
          <a:ln w="63500">
            <a:solidFill>
              <a:srgbClr val="19A9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4B54725-92F4-217E-2F9C-E6578244F0D5}"/>
              </a:ext>
            </a:extLst>
          </p:cNvPr>
          <p:cNvSpPr txBox="1"/>
          <p:nvPr/>
        </p:nvSpPr>
        <p:spPr>
          <a:xfrm>
            <a:off x="6223000" y="4826000"/>
            <a:ext cx="1841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225BAA"/>
                </a:solidFill>
                <a:latin typeface="Aptos" panose="020B0004020202020204" pitchFamily="34" charset="0"/>
              </a:rPr>
              <a:t>Planned route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579842-5F08-D297-B33D-32C4F8564B97}"/>
              </a:ext>
            </a:extLst>
          </p:cNvPr>
          <p:cNvCxnSpPr/>
          <p:nvPr/>
        </p:nvCxnSpPr>
        <p:spPr>
          <a:xfrm>
            <a:off x="8255000" y="4953000"/>
            <a:ext cx="838200" cy="0"/>
          </a:xfrm>
          <a:prstGeom prst="line">
            <a:avLst/>
          </a:prstGeom>
          <a:ln w="50800">
            <a:solidFill>
              <a:srgbClr val="225B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9476CE9-8E8D-BC96-6D52-F3FC412D1310}"/>
              </a:ext>
            </a:extLst>
          </p:cNvPr>
          <p:cNvSpPr txBox="1"/>
          <p:nvPr/>
        </p:nvSpPr>
        <p:spPr>
          <a:xfrm>
            <a:off x="6223000" y="5346700"/>
            <a:ext cx="2159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100" b="1">
                <a:solidFill>
                  <a:srgbClr val="19A9CD"/>
                </a:solidFill>
                <a:latin typeface="Aptos" panose="020B0004020202020204" pitchFamily="34" charset="0"/>
              </a:rPr>
              <a:t>Actual traveled track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B6BA0B-DDB8-6C6C-9EF4-449D05CEE4B3}"/>
              </a:ext>
            </a:extLst>
          </p:cNvPr>
          <p:cNvCxnSpPr/>
          <p:nvPr/>
        </p:nvCxnSpPr>
        <p:spPr>
          <a:xfrm>
            <a:off x="8255000" y="5473700"/>
            <a:ext cx="838200" cy="0"/>
          </a:xfrm>
          <a:prstGeom prst="line">
            <a:avLst/>
          </a:prstGeom>
          <a:ln w="50800">
            <a:solidFill>
              <a:srgbClr val="19A9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D8D0CB-AAAD-3383-16ED-FF4166601DBE}"/>
              </a:ext>
            </a:extLst>
          </p:cNvPr>
          <p:cNvSpPr/>
          <p:nvPr/>
        </p:nvSpPr>
        <p:spPr>
          <a:xfrm>
            <a:off x="9575800" y="4711700"/>
            <a:ext cx="1879600" cy="10414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F2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6F295E-6650-C531-71E2-0922FAB9A458}"/>
              </a:ext>
            </a:extLst>
          </p:cNvPr>
          <p:cNvSpPr txBox="1"/>
          <p:nvPr/>
        </p:nvSpPr>
        <p:spPr>
          <a:xfrm>
            <a:off x="9779000" y="4876800"/>
            <a:ext cx="1460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F9768"/>
                </a:solidFill>
                <a:latin typeface="Aptos" panose="020B0004020202020204" pitchFamily="34" charset="0"/>
              </a:rPr>
              <a:t>Key benefit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00D339-6FEF-830D-ACDC-C9387C37928C}"/>
              </a:ext>
            </a:extLst>
          </p:cNvPr>
          <p:cNvSpPr txBox="1"/>
          <p:nvPr/>
        </p:nvSpPr>
        <p:spPr>
          <a:xfrm>
            <a:off x="9779000" y="5143500"/>
            <a:ext cx="14605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 b="1">
                <a:solidFill>
                  <a:srgbClr val="1C2B3E"/>
                </a:solidFill>
                <a:latin typeface="Aptos" panose="020B0004020202020204" pitchFamily="34" charset="0"/>
              </a:rPr>
              <a:t>Deviations remain visible without losing the approved plan.</a:t>
            </a:r>
            <a:endParaRPr lang="en-PH" sz="1000" b="1">
              <a:solidFill>
                <a:srgbClr val="1C2B3E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BF8EFF-1030-9C72-2A40-B2192C38BEC8}"/>
              </a:ext>
            </a:extLst>
          </p:cNvPr>
          <p:cNvSpPr txBox="1"/>
          <p:nvPr/>
        </p:nvSpPr>
        <p:spPr>
          <a:xfrm>
            <a:off x="609600" y="6553200"/>
            <a:ext cx="825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66768A"/>
                </a:solidFill>
                <a:latin typeface="Aptos" panose="020B0004020202020204" pitchFamily="34" charset="0"/>
              </a:rPr>
              <a:t>VILLA GROUP OF COMPANIES  â€¢  INTERNAL MANAGEMENT UPDATE</a:t>
            </a:r>
            <a:endParaRPr lang="en-PH" sz="800" b="1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E78B76-4837-13EE-EA14-37A1722115F5}"/>
              </a:ext>
            </a:extLst>
          </p:cNvPr>
          <p:cNvSpPr txBox="1"/>
          <p:nvPr/>
        </p:nvSpPr>
        <p:spPr>
          <a:xfrm>
            <a:off x="11226800" y="6515100"/>
            <a:ext cx="35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66768A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2951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C0545-74B4-3AEF-D234-9DB6869198CD}"/>
              </a:ext>
            </a:extLst>
          </p:cNvPr>
          <p:cNvSpPr txBox="1"/>
          <p:nvPr/>
        </p:nvSpPr>
        <p:spPr>
          <a:xfrm>
            <a:off x="609600" y="355600"/>
            <a:ext cx="787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19A9CD"/>
                </a:solidFill>
                <a:latin typeface="Aptos" panose="020B0004020202020204" pitchFamily="34" charset="0"/>
              </a:rPr>
              <a:t>USER MANAGEMENT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34EC5-03B1-C872-462B-4BF2A9B69058}"/>
              </a:ext>
            </a:extLst>
          </p:cNvPr>
          <p:cNvSpPr txBox="1"/>
          <p:nvPr/>
        </p:nvSpPr>
        <p:spPr>
          <a:xfrm>
            <a:off x="609600" y="6604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D2A52"/>
                </a:solidFill>
                <a:latin typeface="Aptos" panose="020B0004020202020204" pitchFamily="34" charset="0"/>
              </a:rPr>
              <a:t>Clear management scope by vessel responsibility</a:t>
            </a:r>
            <a:endParaRPr lang="en-PH" sz="2800" b="1">
              <a:solidFill>
                <a:srgbClr val="0D2A5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A79E4-F9B6-7E54-0CA6-0D8529E74D98}"/>
              </a:ext>
            </a:extLst>
          </p:cNvPr>
          <p:cNvSpPr txBox="1"/>
          <p:nvPr/>
        </p:nvSpPr>
        <p:spPr>
          <a:xfrm>
            <a:off x="609600" y="1244600"/>
            <a:ext cx="1041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6768A"/>
                </a:solidFill>
                <a:latin typeface="Aptos" panose="020B0004020202020204" pitchFamily="34" charset="0"/>
              </a:rPr>
              <a:t>Access now follows the operating structure of Marine Operations.</a:t>
            </a:r>
            <a:endParaRPr lang="en-PH" sz="13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1116AB-0193-C2C3-7819-02E8C80E52F7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A6E101-3C0E-BA4E-AB2D-76CF640EA439}"/>
              </a:ext>
            </a:extLst>
          </p:cNvPr>
          <p:cNvSpPr/>
          <p:nvPr/>
        </p:nvSpPr>
        <p:spPr>
          <a:xfrm>
            <a:off x="787400" y="2082800"/>
            <a:ext cx="4953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25EADE-2108-52A5-C1BC-D9131A93C948}"/>
              </a:ext>
            </a:extLst>
          </p:cNvPr>
          <p:cNvSpPr/>
          <p:nvPr/>
        </p:nvSpPr>
        <p:spPr>
          <a:xfrm>
            <a:off x="6451600" y="2082800"/>
            <a:ext cx="4953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493455-67DA-D581-36DF-F614EE0B923A}"/>
              </a:ext>
            </a:extLst>
          </p:cNvPr>
          <p:cNvSpPr/>
          <p:nvPr/>
        </p:nvSpPr>
        <p:spPr>
          <a:xfrm>
            <a:off x="787400" y="2082800"/>
            <a:ext cx="4953000" cy="736600"/>
          </a:xfrm>
          <a:prstGeom prst="roundRect">
            <a:avLst/>
          </a:prstGeom>
          <a:solidFill>
            <a:srgbClr val="0D2A52"/>
          </a:solidFill>
          <a:ln w="12700">
            <a:solidFill>
              <a:srgbClr val="0D2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32A187-8B7B-93E9-F9A8-85AA7A40A5F3}"/>
              </a:ext>
            </a:extLst>
          </p:cNvPr>
          <p:cNvSpPr/>
          <p:nvPr/>
        </p:nvSpPr>
        <p:spPr>
          <a:xfrm>
            <a:off x="6451600" y="2082800"/>
            <a:ext cx="4953000" cy="736600"/>
          </a:xfrm>
          <a:prstGeom prst="roundRect">
            <a:avLst/>
          </a:prstGeom>
          <a:solidFill>
            <a:srgbClr val="225BAA"/>
          </a:solidFill>
          <a:ln w="12700">
            <a:solidFill>
              <a:srgbClr val="225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2B66A-4F60-E11E-B969-4DCB3D528299}"/>
              </a:ext>
            </a:extLst>
          </p:cNvPr>
          <p:cNvSpPr txBox="1"/>
          <p:nvPr/>
        </p:nvSpPr>
        <p:spPr>
          <a:xfrm>
            <a:off x="1066800" y="2324100"/>
            <a:ext cx="393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700" b="1">
                <a:solidFill>
                  <a:srgbClr val="FFFFFF"/>
                </a:solidFill>
                <a:latin typeface="Aptos" panose="020B0004020202020204" pitchFamily="34" charset="0"/>
              </a:rPr>
              <a:t>OPERATIONS MANAGER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1D0F6-5991-BB09-3A1E-4F243968624A}"/>
              </a:ext>
            </a:extLst>
          </p:cNvPr>
          <p:cNvSpPr txBox="1"/>
          <p:nvPr/>
        </p:nvSpPr>
        <p:spPr>
          <a:xfrm>
            <a:off x="6731000" y="2324100"/>
            <a:ext cx="393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700" b="1">
                <a:solidFill>
                  <a:srgbClr val="FFFFFF"/>
                </a:solidFill>
                <a:latin typeface="Aptos" panose="020B0004020202020204" pitchFamily="34" charset="0"/>
              </a:rPr>
              <a:t>OPERATION MANAGER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ABBCE5-B384-0516-CF82-73DB981CC79D}"/>
              </a:ext>
            </a:extLst>
          </p:cNvPr>
          <p:cNvSpPr txBox="1"/>
          <p:nvPr/>
        </p:nvSpPr>
        <p:spPr>
          <a:xfrm>
            <a:off x="1066800" y="3073400"/>
            <a:ext cx="3810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0D2A52"/>
                </a:solidFill>
                <a:latin typeface="Aptos" panose="020B0004020202020204" pitchFamily="34" charset="0"/>
              </a:rPr>
              <a:t>Company-wide management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EC24B6-71BA-10B9-A1B3-EA703843D5B1}"/>
              </a:ext>
            </a:extLst>
          </p:cNvPr>
          <p:cNvSpPr txBox="1"/>
          <p:nvPr/>
        </p:nvSpPr>
        <p:spPr>
          <a:xfrm>
            <a:off x="6731000" y="3073400"/>
            <a:ext cx="3937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225BAA"/>
                </a:solidFill>
                <a:latin typeface="Aptos" panose="020B0004020202020204" pitchFamily="34" charset="0"/>
              </a:rPr>
              <a:t>Vessel-specific management scope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A4CBCA-210F-A350-EC64-7DEEA86EA063}"/>
              </a:ext>
            </a:extLst>
          </p:cNvPr>
          <p:cNvSpPr txBox="1"/>
          <p:nvPr/>
        </p:nvSpPr>
        <p:spPr>
          <a:xfrm>
            <a:off x="1066800" y="3632200"/>
            <a:ext cx="4064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1C2B3E"/>
                </a:solidFill>
                <a:latin typeface="Aptos" panose="020B0004020202020204" pitchFamily="34" charset="0"/>
              </a:rPr>
              <a:t>â€¢ Access to all vessels</a:t>
            </a:r>
          </a:p>
          <a:p>
            <a:r>
              <a:rPr lang="en-US" sz="1300">
                <a:solidFill>
                  <a:srgbClr val="1C2B3E"/>
                </a:solidFill>
                <a:latin typeface="Aptos" panose="020B0004020202020204" pitchFamily="34" charset="0"/>
              </a:rPr>
              <a:t>â€¢ No vessel assignment required</a:t>
            </a:r>
          </a:p>
          <a:p>
            <a:r>
              <a:rPr lang="en-US" sz="1300">
                <a:solidFill>
                  <a:srgbClr val="1C2B3E"/>
                </a:solidFill>
                <a:latin typeface="Aptos" panose="020B0004020202020204" pitchFamily="34" charset="0"/>
              </a:rPr>
              <a:t>â€¢ Company-wide operational oversight</a:t>
            </a:r>
          </a:p>
          <a:p>
            <a:r>
              <a:rPr lang="en-US" sz="1300">
                <a:solidFill>
                  <a:srgbClr val="1C2B3E"/>
                </a:solidFill>
                <a:latin typeface="Aptos" panose="020B0004020202020204" pitchFamily="34" charset="0"/>
              </a:rPr>
              <a:t>â€¢ Full Marine Operations visibility</a:t>
            </a:r>
            <a:endParaRPr lang="en-PH" sz="1300">
              <a:solidFill>
                <a:srgbClr val="1C2B3E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486BA-AD1C-D6C7-5968-A141EC767C4E}"/>
              </a:ext>
            </a:extLst>
          </p:cNvPr>
          <p:cNvSpPr txBox="1"/>
          <p:nvPr/>
        </p:nvSpPr>
        <p:spPr>
          <a:xfrm>
            <a:off x="6731000" y="3632200"/>
            <a:ext cx="4064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1C2B3E"/>
                </a:solidFill>
                <a:latin typeface="Aptos" panose="020B0004020202020204" pitchFamily="34" charset="0"/>
              </a:rPr>
              <a:t>â€¢ Vessel Assignment is required</a:t>
            </a:r>
          </a:p>
          <a:p>
            <a:r>
              <a:rPr lang="en-US" sz="1300">
                <a:solidFill>
                  <a:srgbClr val="1C2B3E"/>
                </a:solidFill>
                <a:latin typeface="Aptos" panose="020B0004020202020204" pitchFamily="34" charset="0"/>
              </a:rPr>
              <a:t>â€¢ Access limited to assigned vessels</a:t>
            </a:r>
          </a:p>
          <a:p>
            <a:r>
              <a:rPr lang="en-US" sz="1300">
                <a:solidFill>
                  <a:srgbClr val="1C2B3E"/>
                </a:solidFill>
                <a:latin typeface="Aptos" panose="020B0004020202020204" pitchFamily="34" charset="0"/>
              </a:rPr>
              <a:t>â€¢ Manager actions within assigned vessels</a:t>
            </a:r>
          </a:p>
          <a:p>
            <a:r>
              <a:rPr lang="en-US" sz="1300">
                <a:solidFill>
                  <a:srgbClr val="1C2B3E"/>
                </a:solidFill>
                <a:latin typeface="Aptos" panose="020B0004020202020204" pitchFamily="34" charset="0"/>
              </a:rPr>
              <a:t>â€¢ Vessel-specific checklist reminders</a:t>
            </a:r>
            <a:endParaRPr lang="en-PH" sz="1300">
              <a:solidFill>
                <a:srgbClr val="1C2B3E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038631-CF58-F7EF-31F5-80664F0A70D0}"/>
              </a:ext>
            </a:extLst>
          </p:cNvPr>
          <p:cNvSpPr/>
          <p:nvPr/>
        </p:nvSpPr>
        <p:spPr>
          <a:xfrm>
            <a:off x="787400" y="5918200"/>
            <a:ext cx="10617200" cy="4318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5860D-43E0-F98F-5972-1EA2B85174DF}"/>
              </a:ext>
            </a:extLst>
          </p:cNvPr>
          <p:cNvSpPr txBox="1"/>
          <p:nvPr/>
        </p:nvSpPr>
        <p:spPr>
          <a:xfrm>
            <a:off x="1041400" y="6032500"/>
            <a:ext cx="10160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F9768"/>
                </a:solidFill>
                <a:latin typeface="Aptos" panose="020B0004020202020204" pitchFamily="34" charset="0"/>
              </a:rPr>
              <a:t>Result: stronger data separation, clearer accountability, and access aligned with vessel assignments.</a:t>
            </a:r>
            <a:endParaRPr lang="en-PH" sz="1100" b="1">
              <a:solidFill>
                <a:srgbClr val="1F9768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62227A-48C0-BAE1-0DE4-99D6F881DEDD}"/>
              </a:ext>
            </a:extLst>
          </p:cNvPr>
          <p:cNvSpPr txBox="1"/>
          <p:nvPr/>
        </p:nvSpPr>
        <p:spPr>
          <a:xfrm>
            <a:off x="609600" y="6553200"/>
            <a:ext cx="825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66768A"/>
                </a:solidFill>
                <a:latin typeface="Aptos" panose="020B0004020202020204" pitchFamily="34" charset="0"/>
              </a:rPr>
              <a:t>VILLA GROUP OF COMPANIES  â€¢  INTERNAL MANAGEMENT UPDATE</a:t>
            </a:r>
            <a:endParaRPr lang="en-PH" sz="800" b="1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0B5CE6-8700-A465-54B2-C4322DE646B6}"/>
              </a:ext>
            </a:extLst>
          </p:cNvPr>
          <p:cNvSpPr txBox="1"/>
          <p:nvPr/>
        </p:nvSpPr>
        <p:spPr>
          <a:xfrm>
            <a:off x="11226800" y="6515100"/>
            <a:ext cx="35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66768A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59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E947ED-C9C4-4D32-310A-58602E505879}"/>
              </a:ext>
            </a:extLst>
          </p:cNvPr>
          <p:cNvSpPr txBox="1"/>
          <p:nvPr/>
        </p:nvSpPr>
        <p:spPr>
          <a:xfrm>
            <a:off x="609600" y="355600"/>
            <a:ext cx="787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19A9CD"/>
                </a:solidFill>
                <a:latin typeface="Aptos" panose="020B0004020202020204" pitchFamily="34" charset="0"/>
              </a:rPr>
              <a:t>AIS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7AE3C-7778-C863-9E26-32B9D1787E98}"/>
              </a:ext>
            </a:extLst>
          </p:cNvPr>
          <p:cNvSpPr txBox="1"/>
          <p:nvPr/>
        </p:nvSpPr>
        <p:spPr>
          <a:xfrm>
            <a:off x="609600" y="6604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800" b="1">
                <a:solidFill>
                  <a:srgbClr val="0D2A52"/>
                </a:solidFill>
                <a:latin typeface="Aptos" panose="020B0004020202020204" pitchFamily="34" charset="0"/>
              </a:rPr>
              <a:t>Kpler / MarineTraffic coordination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76453-C5E8-876B-53F8-6EE3DDC15337}"/>
              </a:ext>
            </a:extLst>
          </p:cNvPr>
          <p:cNvSpPr txBox="1"/>
          <p:nvPr/>
        </p:nvSpPr>
        <p:spPr>
          <a:xfrm>
            <a:off x="609600" y="1244600"/>
            <a:ext cx="1041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6768A"/>
                </a:solidFill>
                <a:latin typeface="Aptos" panose="020B0004020202020204" pitchFamily="34" charset="0"/>
              </a:rPr>
              <a:t>The system design is ready to consume live vessel positions once commercial API access is activated.</a:t>
            </a:r>
            <a:endParaRPr lang="en-PH" sz="13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71C0FD-206A-267A-D0B3-FB853CDF2278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5D2C18-6EA8-8298-E935-97DEC990472D}"/>
              </a:ext>
            </a:extLst>
          </p:cNvPr>
          <p:cNvSpPr/>
          <p:nvPr/>
        </p:nvSpPr>
        <p:spPr>
          <a:xfrm>
            <a:off x="685800" y="2476500"/>
            <a:ext cx="2209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FFE2C-53FF-D51E-0D4D-9EBF0E555DF9}"/>
              </a:ext>
            </a:extLst>
          </p:cNvPr>
          <p:cNvSpPr/>
          <p:nvPr/>
        </p:nvSpPr>
        <p:spPr>
          <a:xfrm>
            <a:off x="685800" y="2476500"/>
            <a:ext cx="2209800" cy="127000"/>
          </a:xfrm>
          <a:prstGeom prst="rect">
            <a:avLst/>
          </a:prstGeom>
          <a:solidFill>
            <a:srgbClr val="0D2A52"/>
          </a:solidFill>
          <a:ln w="12700">
            <a:solidFill>
              <a:srgbClr val="0D2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BBF25-7918-64BF-EB55-BC68F2626042}"/>
              </a:ext>
            </a:extLst>
          </p:cNvPr>
          <p:cNvSpPr txBox="1"/>
          <p:nvPr/>
        </p:nvSpPr>
        <p:spPr>
          <a:xfrm>
            <a:off x="889000" y="2794000"/>
            <a:ext cx="1841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0D2A52"/>
                </a:solidFill>
                <a:latin typeface="Aptos" panose="020B0004020202020204" pitchFamily="34" charset="0"/>
              </a:rPr>
              <a:t>Onboard AIS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ED87C-C7EA-06B9-B069-8724DF2CAB42}"/>
              </a:ext>
            </a:extLst>
          </p:cNvPr>
          <p:cNvSpPr txBox="1"/>
          <p:nvPr/>
        </p:nvSpPr>
        <p:spPr>
          <a:xfrm>
            <a:off x="889000" y="3200400"/>
            <a:ext cx="184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>
                <a:solidFill>
                  <a:srgbClr val="66768A"/>
                </a:solidFill>
                <a:latin typeface="Aptos" panose="020B0004020202020204" pitchFamily="34" charset="0"/>
              </a:rPr>
              <a:t>Xinuo Class 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E6857A-2ADA-6189-03B2-178103320061}"/>
              </a:ext>
            </a:extLst>
          </p:cNvPr>
          <p:cNvSpPr/>
          <p:nvPr/>
        </p:nvSpPr>
        <p:spPr>
          <a:xfrm>
            <a:off x="3352800" y="2476500"/>
            <a:ext cx="2209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F112DD-E399-49FA-1055-537847850E6D}"/>
              </a:ext>
            </a:extLst>
          </p:cNvPr>
          <p:cNvSpPr/>
          <p:nvPr/>
        </p:nvSpPr>
        <p:spPr>
          <a:xfrm>
            <a:off x="3352800" y="2476500"/>
            <a:ext cx="2209800" cy="127000"/>
          </a:xfrm>
          <a:prstGeom prst="rect">
            <a:avLst/>
          </a:prstGeom>
          <a:solidFill>
            <a:srgbClr val="225BAA"/>
          </a:solidFill>
          <a:ln w="12700">
            <a:solidFill>
              <a:srgbClr val="225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10DA17-4A56-D3B8-8A06-3F8998D58389}"/>
              </a:ext>
            </a:extLst>
          </p:cNvPr>
          <p:cNvSpPr txBox="1"/>
          <p:nvPr/>
        </p:nvSpPr>
        <p:spPr>
          <a:xfrm>
            <a:off x="3556000" y="2794000"/>
            <a:ext cx="1841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0D2A52"/>
                </a:solidFill>
                <a:latin typeface="Aptos" panose="020B0004020202020204" pitchFamily="34" charset="0"/>
              </a:rPr>
              <a:t>AIS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D016A9-82DD-80D3-F5CE-EA5C95E59622}"/>
              </a:ext>
            </a:extLst>
          </p:cNvPr>
          <p:cNvSpPr txBox="1"/>
          <p:nvPr/>
        </p:nvSpPr>
        <p:spPr>
          <a:xfrm>
            <a:off x="3556000" y="3200400"/>
            <a:ext cx="184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>
                <a:solidFill>
                  <a:srgbClr val="66768A"/>
                </a:solidFill>
                <a:latin typeface="Aptos" panose="020B0004020202020204" pitchFamily="34" charset="0"/>
              </a:rPr>
              <a:t>Receiver coverage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166C06-4646-3EB3-9419-F17AED54F7A2}"/>
              </a:ext>
            </a:extLst>
          </p:cNvPr>
          <p:cNvSpPr/>
          <p:nvPr/>
        </p:nvSpPr>
        <p:spPr>
          <a:xfrm>
            <a:off x="6019800" y="2476500"/>
            <a:ext cx="2209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1F1C63-01DD-9ACE-F029-DA10D00E9B65}"/>
              </a:ext>
            </a:extLst>
          </p:cNvPr>
          <p:cNvSpPr/>
          <p:nvPr/>
        </p:nvSpPr>
        <p:spPr>
          <a:xfrm>
            <a:off x="6019800" y="2476500"/>
            <a:ext cx="2209800" cy="127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6C509-E6BB-C0AC-E81E-809B3BE48B91}"/>
              </a:ext>
            </a:extLst>
          </p:cNvPr>
          <p:cNvSpPr txBox="1"/>
          <p:nvPr/>
        </p:nvSpPr>
        <p:spPr>
          <a:xfrm>
            <a:off x="6223000" y="2794000"/>
            <a:ext cx="1841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0D2A52"/>
                </a:solidFill>
                <a:latin typeface="Aptos" panose="020B0004020202020204" pitchFamily="34" charset="0"/>
              </a:rPr>
              <a:t>Kpler 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C591DF-0E09-DD18-AA2A-6313DCFEB06A}"/>
              </a:ext>
            </a:extLst>
          </p:cNvPr>
          <p:cNvSpPr txBox="1"/>
          <p:nvPr/>
        </p:nvSpPr>
        <p:spPr>
          <a:xfrm>
            <a:off x="6223000" y="3200400"/>
            <a:ext cx="184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>
                <a:solidFill>
                  <a:srgbClr val="66768A"/>
                </a:solidFill>
                <a:latin typeface="Aptos" panose="020B0004020202020204" pitchFamily="34" charset="0"/>
              </a:rPr>
              <a:t>Activation pending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A77D14-20BA-DCF7-90C7-924B2E7F1C6D}"/>
              </a:ext>
            </a:extLst>
          </p:cNvPr>
          <p:cNvSpPr/>
          <p:nvPr/>
        </p:nvSpPr>
        <p:spPr>
          <a:xfrm>
            <a:off x="8686800" y="2476500"/>
            <a:ext cx="2209800" cy="132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2A5976-3A4B-A70A-9AB8-93B7CD558300}"/>
              </a:ext>
            </a:extLst>
          </p:cNvPr>
          <p:cNvSpPr/>
          <p:nvPr/>
        </p:nvSpPr>
        <p:spPr>
          <a:xfrm>
            <a:off x="8686800" y="2476500"/>
            <a:ext cx="2209800" cy="127000"/>
          </a:xfrm>
          <a:prstGeom prst="rect">
            <a:avLst/>
          </a:prstGeom>
          <a:solidFill>
            <a:srgbClr val="1F9768"/>
          </a:solidFill>
          <a:ln w="12700">
            <a:solidFill>
              <a:srgbClr val="1F97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F0F8BC-3B13-249D-A819-4231BF4D86DF}"/>
              </a:ext>
            </a:extLst>
          </p:cNvPr>
          <p:cNvSpPr txBox="1"/>
          <p:nvPr/>
        </p:nvSpPr>
        <p:spPr>
          <a:xfrm>
            <a:off x="8890000" y="2794000"/>
            <a:ext cx="18415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0D2A52"/>
                </a:solidFill>
                <a:latin typeface="Aptos" panose="020B0004020202020204" pitchFamily="34" charset="0"/>
              </a:rPr>
              <a:t>VSLI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9A25E7-6B4E-D0F5-7FE9-0588239660C0}"/>
              </a:ext>
            </a:extLst>
          </p:cNvPr>
          <p:cNvSpPr txBox="1"/>
          <p:nvPr/>
        </p:nvSpPr>
        <p:spPr>
          <a:xfrm>
            <a:off x="8890000" y="3200400"/>
            <a:ext cx="18415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>
                <a:solidFill>
                  <a:srgbClr val="66768A"/>
                </a:solidFill>
                <a:latin typeface="Aptos" panose="020B0004020202020204" pitchFamily="34" charset="0"/>
              </a:rPr>
              <a:t>Live monitoring map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5ED4E71-BD35-ADB4-121F-BDD5116EC2A3}"/>
              </a:ext>
            </a:extLst>
          </p:cNvPr>
          <p:cNvCxnSpPr/>
          <p:nvPr/>
        </p:nvCxnSpPr>
        <p:spPr>
          <a:xfrm>
            <a:off x="2895600" y="3136900"/>
            <a:ext cx="406400" cy="0"/>
          </a:xfrm>
          <a:prstGeom prst="line">
            <a:avLst/>
          </a:prstGeom>
          <a:ln w="38100">
            <a:solidFill>
              <a:srgbClr val="EBB3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67AEC2C-DFB2-2B29-B5DC-BBCD5994A1FC}"/>
              </a:ext>
            </a:extLst>
          </p:cNvPr>
          <p:cNvCxnSpPr/>
          <p:nvPr/>
        </p:nvCxnSpPr>
        <p:spPr>
          <a:xfrm>
            <a:off x="5562600" y="3136900"/>
            <a:ext cx="406400" cy="0"/>
          </a:xfrm>
          <a:prstGeom prst="line">
            <a:avLst/>
          </a:prstGeom>
          <a:ln w="38100">
            <a:solidFill>
              <a:srgbClr val="EBB3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17C08A-C368-CE52-3E8A-474E459AB5F5}"/>
              </a:ext>
            </a:extLst>
          </p:cNvPr>
          <p:cNvCxnSpPr/>
          <p:nvPr/>
        </p:nvCxnSpPr>
        <p:spPr>
          <a:xfrm>
            <a:off x="8229600" y="3136900"/>
            <a:ext cx="406400" cy="0"/>
          </a:xfrm>
          <a:prstGeom prst="line">
            <a:avLst/>
          </a:prstGeom>
          <a:ln w="38100">
            <a:solidFill>
              <a:srgbClr val="EBB3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A012A4C-C0CA-E450-C6E7-9751663D73B2}"/>
              </a:ext>
            </a:extLst>
          </p:cNvPr>
          <p:cNvSpPr/>
          <p:nvPr/>
        </p:nvSpPr>
        <p:spPr>
          <a:xfrm>
            <a:off x="685800" y="4292600"/>
            <a:ext cx="10210800" cy="14224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F2F6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57DC98-C5B4-5C67-EBD1-689434925DD0}"/>
              </a:ext>
            </a:extLst>
          </p:cNvPr>
          <p:cNvSpPr txBox="1"/>
          <p:nvPr/>
        </p:nvSpPr>
        <p:spPr>
          <a:xfrm>
            <a:off x="965200" y="4533900"/>
            <a:ext cx="1270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1F9768"/>
                </a:solidFill>
                <a:latin typeface="Aptos" panose="020B0004020202020204" pitchFamily="34" charset="0"/>
              </a:rPr>
              <a:t>COMPLETED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B71286-382F-F8D7-7FAA-0B9F3E7443B9}"/>
              </a:ext>
            </a:extLst>
          </p:cNvPr>
          <p:cNvSpPr txBox="1"/>
          <p:nvPr/>
        </p:nvSpPr>
        <p:spPr>
          <a:xfrm>
            <a:off x="965200" y="4800600"/>
            <a:ext cx="9525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1C2B3E"/>
                </a:solidFill>
                <a:latin typeface="Aptos" panose="020B0004020202020204" pitchFamily="34" charset="0"/>
              </a:rPr>
              <a:t>Developer account created â€¢ API credential generated â€¢ requirements and vessel-monitoring use case submitted</a:t>
            </a:r>
            <a:endParaRPr lang="en-PH" sz="1200" b="1">
              <a:solidFill>
                <a:srgbClr val="1C2B3E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CB8CA7-367D-D619-76D0-7EC390C29D29}"/>
              </a:ext>
            </a:extLst>
          </p:cNvPr>
          <p:cNvSpPr txBox="1"/>
          <p:nvPr/>
        </p:nvSpPr>
        <p:spPr>
          <a:xfrm>
            <a:off x="965200" y="5257800"/>
            <a:ext cx="2032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E67E22"/>
                </a:solidFill>
                <a:latin typeface="Aptos" panose="020B0004020202020204" pitchFamily="34" charset="0"/>
              </a:rPr>
              <a:t>PENDING EXTERNAL ACTION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F60E29-21CD-F465-5B5F-67008418695F}"/>
              </a:ext>
            </a:extLst>
          </p:cNvPr>
          <p:cNvSpPr txBox="1"/>
          <p:nvPr/>
        </p:nvSpPr>
        <p:spPr>
          <a:xfrm>
            <a:off x="3098800" y="5219700"/>
            <a:ext cx="749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1C2B3E"/>
                </a:solidFill>
                <a:latin typeface="Aptos" panose="020B0004020202020204" pitchFamily="34" charset="0"/>
              </a:rPr>
              <a:t>Provider activation, coverage confirmation, commercial terms, and pricing proposal from Kpler/MarineTraffic</a:t>
            </a:r>
            <a:endParaRPr lang="en-PH" sz="1100">
              <a:solidFill>
                <a:srgbClr val="1C2B3E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21677D-C30C-C8CF-2B26-091D68111A3E}"/>
              </a:ext>
            </a:extLst>
          </p:cNvPr>
          <p:cNvSpPr txBox="1"/>
          <p:nvPr/>
        </p:nvSpPr>
        <p:spPr>
          <a:xfrm>
            <a:off x="609600" y="6553200"/>
            <a:ext cx="825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66768A"/>
                </a:solidFill>
                <a:latin typeface="Aptos" panose="020B0004020202020204" pitchFamily="34" charset="0"/>
              </a:rPr>
              <a:t>VILLA GROUP OF COMPANIES  â€¢  INTERNAL MANAGEMENT UPDATE</a:t>
            </a:r>
            <a:endParaRPr lang="en-PH" sz="800" b="1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2DEC15-FF52-A355-4184-A3A3DAC309F4}"/>
              </a:ext>
            </a:extLst>
          </p:cNvPr>
          <p:cNvSpPr txBox="1"/>
          <p:nvPr/>
        </p:nvSpPr>
        <p:spPr>
          <a:xfrm>
            <a:off x="11226800" y="6515100"/>
            <a:ext cx="35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66768A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536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1936E-8364-6A6B-33E0-D84815CCE5C8}"/>
              </a:ext>
            </a:extLst>
          </p:cNvPr>
          <p:cNvSpPr txBox="1"/>
          <p:nvPr/>
        </p:nvSpPr>
        <p:spPr>
          <a:xfrm>
            <a:off x="609600" y="355600"/>
            <a:ext cx="787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19A9CD"/>
                </a:solidFill>
                <a:latin typeface="Aptos" panose="020B0004020202020204" pitchFamily="34" charset="0"/>
              </a:rPr>
              <a:t>DEPLOYMENT &amp; QUALITY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9F86A7-95E6-30EC-6B33-B925D7F29637}"/>
              </a:ext>
            </a:extLst>
          </p:cNvPr>
          <p:cNvSpPr txBox="1"/>
          <p:nvPr/>
        </p:nvSpPr>
        <p:spPr>
          <a:xfrm>
            <a:off x="609600" y="6604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D2A52"/>
                </a:solidFill>
                <a:latin typeface="Aptos" panose="020B0004020202020204" pitchFamily="34" charset="0"/>
              </a:rPr>
              <a:t>Current release deployed for system testing</a:t>
            </a:r>
            <a:endParaRPr lang="en-PH" sz="2800" b="1">
              <a:solidFill>
                <a:srgbClr val="0D2A5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09C28-CDF9-7F34-7D85-8AE55ED098E6}"/>
              </a:ext>
            </a:extLst>
          </p:cNvPr>
          <p:cNvSpPr txBox="1"/>
          <p:nvPr/>
        </p:nvSpPr>
        <p:spPr>
          <a:xfrm>
            <a:off x="609600" y="1244600"/>
            <a:ext cx="1041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6768A"/>
                </a:solidFill>
                <a:latin typeface="Aptos" panose="020B0004020202020204" pitchFamily="34" charset="0"/>
              </a:rPr>
              <a:t>The live environment is being used for controlled validation before final operational acceptance.</a:t>
            </a:r>
            <a:endParaRPr lang="en-PH" sz="13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1D201D-F171-954B-DFF2-4B24977FF719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41A3F1-FEE5-A343-46D6-24B6EF50FF80}"/>
              </a:ext>
            </a:extLst>
          </p:cNvPr>
          <p:cNvSpPr/>
          <p:nvPr/>
        </p:nvSpPr>
        <p:spPr>
          <a:xfrm>
            <a:off x="660400" y="2032000"/>
            <a:ext cx="10871200" cy="8890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C7E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A76BC-DE2F-4AB1-0278-ABAB821F4473}"/>
              </a:ext>
            </a:extLst>
          </p:cNvPr>
          <p:cNvSpPr txBox="1"/>
          <p:nvPr/>
        </p:nvSpPr>
        <p:spPr>
          <a:xfrm>
            <a:off x="965200" y="2247900"/>
            <a:ext cx="381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700" b="1">
                <a:solidFill>
                  <a:srgbClr val="1F9768"/>
                </a:solidFill>
                <a:latin typeface="Aptos" panose="020B0004020202020204" pitchFamily="34" charset="0"/>
              </a:rPr>
              <a:t>TESTING RELEASE DEPLOYED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B18CC-894C-FB2B-C135-799911112698}"/>
              </a:ext>
            </a:extLst>
          </p:cNvPr>
          <p:cNvSpPr txBox="1"/>
          <p:nvPr/>
        </p:nvSpPr>
        <p:spPr>
          <a:xfrm>
            <a:off x="965200" y="2565400"/>
            <a:ext cx="660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1C2B3E"/>
                </a:solidFill>
                <a:latin typeface="Aptos" panose="020B0004020202020204" pitchFamily="34" charset="0"/>
              </a:rPr>
              <a:t>Available for user validation and workflow confirmation</a:t>
            </a:r>
            <a:endParaRPr lang="en-PH" sz="1100">
              <a:solidFill>
                <a:srgbClr val="1C2B3E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D36744-8D07-7405-9FCA-51183801FFF4}"/>
              </a:ext>
            </a:extLst>
          </p:cNvPr>
          <p:cNvSpPr/>
          <p:nvPr/>
        </p:nvSpPr>
        <p:spPr>
          <a:xfrm>
            <a:off x="9194800" y="2247900"/>
            <a:ext cx="2006600" cy="431800"/>
          </a:xfrm>
          <a:prstGeom prst="roundRect">
            <a:avLst/>
          </a:prstGeom>
          <a:solidFill>
            <a:srgbClr val="1F9768"/>
          </a:solidFill>
          <a:ln w="12700">
            <a:solidFill>
              <a:srgbClr val="1F97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398A8E-8632-AAF5-B5CF-CF74BCE3D56B}"/>
              </a:ext>
            </a:extLst>
          </p:cNvPr>
          <p:cNvSpPr txBox="1"/>
          <p:nvPr/>
        </p:nvSpPr>
        <p:spPr>
          <a:xfrm>
            <a:off x="9728200" y="2374900"/>
            <a:ext cx="1143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FFFFFF"/>
                </a:solidFill>
                <a:latin typeface="Aptos" panose="020B0004020202020204" pitchFamily="34" charset="0"/>
              </a:rPr>
              <a:t>DEPLOYED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A6231E-E724-1B08-2072-E04872ACFE5E}"/>
              </a:ext>
            </a:extLst>
          </p:cNvPr>
          <p:cNvSpPr/>
          <p:nvPr/>
        </p:nvSpPr>
        <p:spPr>
          <a:xfrm>
            <a:off x="812800" y="3429000"/>
            <a:ext cx="22352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CA9CE2-7851-C5F0-0980-89B12B688DD6}"/>
              </a:ext>
            </a:extLst>
          </p:cNvPr>
          <p:cNvSpPr txBox="1"/>
          <p:nvPr/>
        </p:nvSpPr>
        <p:spPr>
          <a:xfrm>
            <a:off x="1041400" y="3708400"/>
            <a:ext cx="177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800" b="1">
                <a:solidFill>
                  <a:srgbClr val="225BAA"/>
                </a:solidFill>
                <a:latin typeface="Aptos" panose="020B0004020202020204" pitchFamily="34" charset="0"/>
              </a:rPr>
              <a:t>43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F939DE-8D01-2AB5-9494-3975487C3510}"/>
              </a:ext>
            </a:extLst>
          </p:cNvPr>
          <p:cNvSpPr txBox="1"/>
          <p:nvPr/>
        </p:nvSpPr>
        <p:spPr>
          <a:xfrm>
            <a:off x="1041400" y="4406900"/>
            <a:ext cx="177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66768A"/>
                </a:solidFill>
                <a:latin typeface="Aptos" panose="020B0004020202020204" pitchFamily="34" charset="0"/>
              </a:rPr>
              <a:t>Targeted tests passed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5D4F92-2B2C-930C-92FA-496D7FCD45B9}"/>
              </a:ext>
            </a:extLst>
          </p:cNvPr>
          <p:cNvSpPr/>
          <p:nvPr/>
        </p:nvSpPr>
        <p:spPr>
          <a:xfrm>
            <a:off x="3632200" y="3429000"/>
            <a:ext cx="22352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791C1C-BC3A-1E31-7F15-9A7AADB7BD71}"/>
              </a:ext>
            </a:extLst>
          </p:cNvPr>
          <p:cNvSpPr txBox="1"/>
          <p:nvPr/>
        </p:nvSpPr>
        <p:spPr>
          <a:xfrm>
            <a:off x="3860800" y="3708400"/>
            <a:ext cx="177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800" b="1">
                <a:solidFill>
                  <a:srgbClr val="19A9CD"/>
                </a:solidFill>
                <a:latin typeface="Aptos" panose="020B0004020202020204" pitchFamily="34" charset="0"/>
              </a:rPr>
              <a:t>374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993C57-D118-8E78-5DEC-8B929DF05071}"/>
              </a:ext>
            </a:extLst>
          </p:cNvPr>
          <p:cNvSpPr txBox="1"/>
          <p:nvPr/>
        </p:nvSpPr>
        <p:spPr>
          <a:xfrm>
            <a:off x="3860800" y="4406900"/>
            <a:ext cx="177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66768A"/>
                </a:solidFill>
                <a:latin typeface="Aptos" panose="020B0004020202020204" pitchFamily="34" charset="0"/>
              </a:rPr>
              <a:t>Assertions passed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AF427E-B853-53E7-D645-C136D4985E1C}"/>
              </a:ext>
            </a:extLst>
          </p:cNvPr>
          <p:cNvSpPr/>
          <p:nvPr/>
        </p:nvSpPr>
        <p:spPr>
          <a:xfrm>
            <a:off x="6451600" y="3429000"/>
            <a:ext cx="22352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197905-985E-CD4F-0592-5991F99C0329}"/>
              </a:ext>
            </a:extLst>
          </p:cNvPr>
          <p:cNvSpPr txBox="1"/>
          <p:nvPr/>
        </p:nvSpPr>
        <p:spPr>
          <a:xfrm>
            <a:off x="6680200" y="3708400"/>
            <a:ext cx="177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800" b="1">
                <a:solidFill>
                  <a:srgbClr val="1F9768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EE80BB-32CC-3AF2-83BF-C98AFB8EC2F6}"/>
              </a:ext>
            </a:extLst>
          </p:cNvPr>
          <p:cNvSpPr txBox="1"/>
          <p:nvPr/>
        </p:nvSpPr>
        <p:spPr>
          <a:xfrm>
            <a:off x="6680200" y="4406900"/>
            <a:ext cx="177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66768A"/>
                </a:solidFill>
                <a:latin typeface="Aptos" panose="020B0004020202020204" pitchFamily="34" charset="0"/>
              </a:rPr>
              <a:t>New tables or columns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42A486E-8697-5815-CC32-AA22AA68FA2A}"/>
              </a:ext>
            </a:extLst>
          </p:cNvPr>
          <p:cNvSpPr/>
          <p:nvPr/>
        </p:nvSpPr>
        <p:spPr>
          <a:xfrm>
            <a:off x="9271000" y="3429000"/>
            <a:ext cx="22352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45ED52-AD57-D93F-8B6B-377E35603B2D}"/>
              </a:ext>
            </a:extLst>
          </p:cNvPr>
          <p:cNvSpPr txBox="1"/>
          <p:nvPr/>
        </p:nvSpPr>
        <p:spPr>
          <a:xfrm>
            <a:off x="9499600" y="3708400"/>
            <a:ext cx="1778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2800" b="1">
                <a:solidFill>
                  <a:srgbClr val="EBB32A"/>
                </a:solidFill>
                <a:latin typeface="Aptos" panose="020B0004020202020204" pitchFamily="34" charset="0"/>
              </a:rPr>
              <a:t>100%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154BF2-AC03-3C94-A2F7-AC24BB8CB4FB}"/>
              </a:ext>
            </a:extLst>
          </p:cNvPr>
          <p:cNvSpPr txBox="1"/>
          <p:nvPr/>
        </p:nvSpPr>
        <p:spPr>
          <a:xfrm>
            <a:off x="9499600" y="4406900"/>
            <a:ext cx="1778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66768A"/>
                </a:solidFill>
                <a:latin typeface="Aptos" panose="020B0004020202020204" pitchFamily="34" charset="0"/>
              </a:rPr>
              <a:t>Selected test success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E34B2-F84C-4BC6-5353-11E1184342DE}"/>
              </a:ext>
            </a:extLst>
          </p:cNvPr>
          <p:cNvSpPr txBox="1"/>
          <p:nvPr/>
        </p:nvSpPr>
        <p:spPr>
          <a:xfrm>
            <a:off x="812800" y="5473700"/>
            <a:ext cx="2159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66768A"/>
                </a:solidFill>
                <a:latin typeface="Aptos" panose="020B0004020202020204" pitchFamily="34" charset="0"/>
              </a:rPr>
              <a:t>Validation completed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5C858F-DDB3-58AE-43EB-AA8316E64A3E}"/>
              </a:ext>
            </a:extLst>
          </p:cNvPr>
          <p:cNvSpPr txBox="1"/>
          <p:nvPr/>
        </p:nvSpPr>
        <p:spPr>
          <a:xfrm>
            <a:off x="812800" y="5778500"/>
            <a:ext cx="1041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200" b="1">
                <a:solidFill>
                  <a:srgbClr val="1C2B3E"/>
                </a:solidFill>
                <a:latin typeface="Aptos" panose="020B0004020202020204" pitchFamily="34" charset="0"/>
              </a:rPr>
              <a:t>Vessel access restrictions  â€¢  Calendar permissions  â€¢  Organization access  â€¢  User management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5B8D96-17E8-5CF0-CC5C-59B4CA61CA44}"/>
              </a:ext>
            </a:extLst>
          </p:cNvPr>
          <p:cNvSpPr txBox="1"/>
          <p:nvPr/>
        </p:nvSpPr>
        <p:spPr>
          <a:xfrm>
            <a:off x="609600" y="6553200"/>
            <a:ext cx="825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66768A"/>
                </a:solidFill>
                <a:latin typeface="Aptos" panose="020B0004020202020204" pitchFamily="34" charset="0"/>
              </a:rPr>
              <a:t>VILLA GROUP OF COMPANIES  â€¢  INTERNAL MANAGEMENT UPDATE</a:t>
            </a:r>
            <a:endParaRPr lang="en-PH" sz="800" b="1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0C543F-292F-C11E-0798-4D04F3440142}"/>
              </a:ext>
            </a:extLst>
          </p:cNvPr>
          <p:cNvSpPr txBox="1"/>
          <p:nvPr/>
        </p:nvSpPr>
        <p:spPr>
          <a:xfrm>
            <a:off x="11226800" y="6515100"/>
            <a:ext cx="35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66768A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985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E4AD58-9029-5618-1AB3-4BD4510C458C}"/>
              </a:ext>
            </a:extLst>
          </p:cNvPr>
          <p:cNvSpPr txBox="1"/>
          <p:nvPr/>
        </p:nvSpPr>
        <p:spPr>
          <a:xfrm>
            <a:off x="609600" y="355600"/>
            <a:ext cx="787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000" b="1">
                <a:solidFill>
                  <a:srgbClr val="19A9CD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C9BCD-42A1-B9BB-96AA-BEBB50A0B631}"/>
              </a:ext>
            </a:extLst>
          </p:cNvPr>
          <p:cNvSpPr txBox="1"/>
          <p:nvPr/>
        </p:nvSpPr>
        <p:spPr>
          <a:xfrm>
            <a:off x="609600" y="660400"/>
            <a:ext cx="10414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0D2A52"/>
                </a:solidFill>
                <a:latin typeface="Aptos" panose="020B0004020202020204" pitchFamily="34" charset="0"/>
              </a:rPr>
              <a:t>Priorities for the next work cycle</a:t>
            </a:r>
            <a:endParaRPr lang="en-PH" sz="2800" b="1">
              <a:solidFill>
                <a:srgbClr val="0D2A5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4C98F-074E-97A5-0FCC-ABA707B3E8B1}"/>
              </a:ext>
            </a:extLst>
          </p:cNvPr>
          <p:cNvSpPr txBox="1"/>
          <p:nvPr/>
        </p:nvSpPr>
        <p:spPr>
          <a:xfrm>
            <a:off x="609600" y="1244600"/>
            <a:ext cx="10414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6768A"/>
                </a:solidFill>
                <a:latin typeface="Aptos" panose="020B0004020202020204" pitchFamily="34" charset="0"/>
              </a:rPr>
              <a:t>Focus shifts to live-user validation and the external AIS decision.</a:t>
            </a:r>
            <a:endParaRPr lang="en-PH" sz="13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4DD4B7-882B-AF19-E995-6DFF3C693BD0}"/>
              </a:ext>
            </a:extLst>
          </p:cNvPr>
          <p:cNvCxnSpPr/>
          <p:nvPr/>
        </p:nvCxnSpPr>
        <p:spPr>
          <a:xfrm>
            <a:off x="609600" y="1625600"/>
            <a:ext cx="109728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965D2A-BF67-2DB4-B2A2-5B3162244583}"/>
              </a:ext>
            </a:extLst>
          </p:cNvPr>
          <p:cNvSpPr/>
          <p:nvPr/>
        </p:nvSpPr>
        <p:spPr>
          <a:xfrm>
            <a:off x="736600" y="2082800"/>
            <a:ext cx="685800" cy="685800"/>
          </a:xfrm>
          <a:prstGeom prst="roundRect">
            <a:avLst/>
          </a:prstGeom>
          <a:solidFill>
            <a:srgbClr val="1F9768"/>
          </a:solidFill>
          <a:ln w="12700">
            <a:solidFill>
              <a:srgbClr val="1F97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0AA07-5AD7-4002-CB56-8CE083702775}"/>
              </a:ext>
            </a:extLst>
          </p:cNvPr>
          <p:cNvSpPr txBox="1"/>
          <p:nvPr/>
        </p:nvSpPr>
        <p:spPr>
          <a:xfrm>
            <a:off x="952500" y="2311400"/>
            <a:ext cx="33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85A85-F440-F934-496C-1124ECE141FE}"/>
              </a:ext>
            </a:extLst>
          </p:cNvPr>
          <p:cNvSpPr txBox="1"/>
          <p:nvPr/>
        </p:nvSpPr>
        <p:spPr>
          <a:xfrm>
            <a:off x="1727200" y="2108200"/>
            <a:ext cx="419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0D2A52"/>
                </a:solidFill>
                <a:latin typeface="Aptos" panose="020B0004020202020204" pitchFamily="34" charset="0"/>
              </a:rPr>
              <a:t>Monitor the testing deployment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51F7A-9356-9CFC-948B-21752461BF52}"/>
              </a:ext>
            </a:extLst>
          </p:cNvPr>
          <p:cNvSpPr txBox="1"/>
          <p:nvPr/>
        </p:nvSpPr>
        <p:spPr>
          <a:xfrm>
            <a:off x="1727200" y="2463800"/>
            <a:ext cx="876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6768A"/>
                </a:solidFill>
                <a:latin typeface="Aptos" panose="020B0004020202020204" pitchFamily="34" charset="0"/>
              </a:rPr>
              <a:t>Collect user feedback and confirm the Operation Manager vessel-assignment workflow.</a:t>
            </a:r>
            <a:endParaRPr lang="en-PH" sz="11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654279-65BD-9CC5-0578-E579EB1C3A5D}"/>
              </a:ext>
            </a:extLst>
          </p:cNvPr>
          <p:cNvCxnSpPr/>
          <p:nvPr/>
        </p:nvCxnSpPr>
        <p:spPr>
          <a:xfrm>
            <a:off x="1727200" y="2921000"/>
            <a:ext cx="96266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67565D-26A4-82AB-2723-6BD7C99020DB}"/>
              </a:ext>
            </a:extLst>
          </p:cNvPr>
          <p:cNvSpPr/>
          <p:nvPr/>
        </p:nvSpPr>
        <p:spPr>
          <a:xfrm>
            <a:off x="736600" y="3022600"/>
            <a:ext cx="685800" cy="685800"/>
          </a:xfrm>
          <a:prstGeom prst="round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DFB59-E869-0E59-B82F-FE7699CBE67A}"/>
              </a:ext>
            </a:extLst>
          </p:cNvPr>
          <p:cNvSpPr txBox="1"/>
          <p:nvPr/>
        </p:nvSpPr>
        <p:spPr>
          <a:xfrm>
            <a:off x="952500" y="3251200"/>
            <a:ext cx="33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CE02E-6F6C-B96A-9FE6-1DDDFEA51F72}"/>
              </a:ext>
            </a:extLst>
          </p:cNvPr>
          <p:cNvSpPr txBox="1"/>
          <p:nvPr/>
        </p:nvSpPr>
        <p:spPr>
          <a:xfrm>
            <a:off x="1727200" y="3048000"/>
            <a:ext cx="419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0D2A52"/>
                </a:solidFill>
                <a:latin typeface="Aptos" panose="020B0004020202020204" pitchFamily="34" charset="0"/>
              </a:rPr>
              <a:t>Follow up with Kpler / MarineTraffic</a:t>
            </a:r>
            <a:endParaRPr lang="en-PH" sz="1500" b="1">
              <a:solidFill>
                <a:srgbClr val="0D2A52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BC9AE1-C0A8-99AF-2311-08ABECECC03D}"/>
              </a:ext>
            </a:extLst>
          </p:cNvPr>
          <p:cNvSpPr txBox="1"/>
          <p:nvPr/>
        </p:nvSpPr>
        <p:spPr>
          <a:xfrm>
            <a:off x="1727200" y="3403600"/>
            <a:ext cx="876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6768A"/>
                </a:solidFill>
                <a:latin typeface="Aptos" panose="020B0004020202020204" pitchFamily="34" charset="0"/>
              </a:rPr>
              <a:t>Secure API activation, vessel coverage confirmation, technical terms, and pricing.</a:t>
            </a:r>
            <a:endParaRPr lang="en-PH" sz="11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48A34D0-7C20-369C-11C3-3B936713115C}"/>
              </a:ext>
            </a:extLst>
          </p:cNvPr>
          <p:cNvCxnSpPr/>
          <p:nvPr/>
        </p:nvCxnSpPr>
        <p:spPr>
          <a:xfrm>
            <a:off x="1727200" y="3860800"/>
            <a:ext cx="96266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86C1A7-423F-54C2-1F1A-24C6FB489531}"/>
              </a:ext>
            </a:extLst>
          </p:cNvPr>
          <p:cNvSpPr/>
          <p:nvPr/>
        </p:nvSpPr>
        <p:spPr>
          <a:xfrm>
            <a:off x="736600" y="3962400"/>
            <a:ext cx="685800" cy="685800"/>
          </a:xfrm>
          <a:prstGeom prst="roundRect">
            <a:avLst/>
          </a:prstGeom>
          <a:solidFill>
            <a:srgbClr val="225BAA"/>
          </a:solidFill>
          <a:ln w="12700">
            <a:solidFill>
              <a:srgbClr val="225B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94091-B587-43E0-0A7F-F53A3F2E78DC}"/>
              </a:ext>
            </a:extLst>
          </p:cNvPr>
          <p:cNvSpPr txBox="1"/>
          <p:nvPr/>
        </p:nvSpPr>
        <p:spPr>
          <a:xfrm>
            <a:off x="952500" y="4191000"/>
            <a:ext cx="33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33AAC0-13FA-04DD-7FFD-0AC60F843018}"/>
              </a:ext>
            </a:extLst>
          </p:cNvPr>
          <p:cNvSpPr txBox="1"/>
          <p:nvPr/>
        </p:nvSpPr>
        <p:spPr>
          <a:xfrm>
            <a:off x="1727200" y="3987800"/>
            <a:ext cx="419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0D2A52"/>
                </a:solidFill>
                <a:latin typeface="Aptos" panose="020B0004020202020204" pitchFamily="34" charset="0"/>
              </a:rPr>
              <a:t>Prepare AIS server integration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8E1FFD-54B6-7A60-814A-9882A3D43504}"/>
              </a:ext>
            </a:extLst>
          </p:cNvPr>
          <p:cNvSpPr txBox="1"/>
          <p:nvPr/>
        </p:nvSpPr>
        <p:spPr>
          <a:xfrm>
            <a:off x="1727200" y="4343400"/>
            <a:ext cx="876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6768A"/>
                </a:solidFill>
                <a:latin typeface="Aptos" panose="020B0004020202020204" pitchFamily="34" charset="0"/>
              </a:rPr>
              <a:t>Implement secure server-side synchronization and MMSI/IMO vessel matching after approval.</a:t>
            </a:r>
            <a:endParaRPr lang="en-PH" sz="11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95D1CE-5969-A207-17FC-D206AD10025D}"/>
              </a:ext>
            </a:extLst>
          </p:cNvPr>
          <p:cNvCxnSpPr/>
          <p:nvPr/>
        </p:nvCxnSpPr>
        <p:spPr>
          <a:xfrm>
            <a:off x="1727200" y="4800600"/>
            <a:ext cx="96266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CDF15E-2626-2D7A-5C80-ADECA0E342D1}"/>
              </a:ext>
            </a:extLst>
          </p:cNvPr>
          <p:cNvSpPr/>
          <p:nvPr/>
        </p:nvSpPr>
        <p:spPr>
          <a:xfrm>
            <a:off x="736600" y="4902200"/>
            <a:ext cx="685800" cy="685800"/>
          </a:xfrm>
          <a:prstGeom prst="roundRect">
            <a:avLst/>
          </a:prstGeom>
          <a:solidFill>
            <a:srgbClr val="19A9CD"/>
          </a:solidFill>
          <a:ln w="12700">
            <a:solidFill>
              <a:srgbClr val="19A9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8B308C-6285-7346-38BE-0C6C0E9FEF51}"/>
              </a:ext>
            </a:extLst>
          </p:cNvPr>
          <p:cNvSpPr txBox="1"/>
          <p:nvPr/>
        </p:nvSpPr>
        <p:spPr>
          <a:xfrm>
            <a:off x="952500" y="5130800"/>
            <a:ext cx="33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20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012E83-6A81-CF54-4A15-D9514B7B9552}"/>
              </a:ext>
            </a:extLst>
          </p:cNvPr>
          <p:cNvSpPr txBox="1"/>
          <p:nvPr/>
        </p:nvSpPr>
        <p:spPr>
          <a:xfrm>
            <a:off x="1727200" y="4927600"/>
            <a:ext cx="4191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500" b="1">
                <a:solidFill>
                  <a:srgbClr val="0D2A52"/>
                </a:solidFill>
                <a:latin typeface="Aptos" panose="020B0004020202020204" pitchFamily="34" charset="0"/>
              </a:rPr>
              <a:t>Complete operational acceptance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53ECEA-8929-5E91-FA80-B9AD3495D7D3}"/>
              </a:ext>
            </a:extLst>
          </p:cNvPr>
          <p:cNvSpPr txBox="1"/>
          <p:nvPr/>
        </p:nvSpPr>
        <p:spPr>
          <a:xfrm>
            <a:off x="1727200" y="5283200"/>
            <a:ext cx="8763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66768A"/>
                </a:solidFill>
                <a:latin typeface="Aptos" panose="020B0004020202020204" pitchFamily="34" charset="0"/>
              </a:rPr>
              <a:t>Validate live map accuracy, route behavior, and user permissions before final sign-off.</a:t>
            </a:r>
            <a:endParaRPr lang="en-PH" sz="1100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3DB03F-ACD7-8124-2CE8-ACB5217AD9F6}"/>
              </a:ext>
            </a:extLst>
          </p:cNvPr>
          <p:cNvCxnSpPr/>
          <p:nvPr/>
        </p:nvCxnSpPr>
        <p:spPr>
          <a:xfrm>
            <a:off x="1727200" y="5740400"/>
            <a:ext cx="9626600" cy="0"/>
          </a:xfrm>
          <a:prstGeom prst="line">
            <a:avLst/>
          </a:prstGeom>
          <a:ln w="12700">
            <a:solidFill>
              <a:srgbClr val="D7E1E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0822675-20A6-BE8A-5F85-BF98D5E31296}"/>
              </a:ext>
            </a:extLst>
          </p:cNvPr>
          <p:cNvSpPr/>
          <p:nvPr/>
        </p:nvSpPr>
        <p:spPr>
          <a:xfrm>
            <a:off x="9017000" y="5943600"/>
            <a:ext cx="2336800" cy="431800"/>
          </a:xfrm>
          <a:prstGeom prst="roundRect">
            <a:avLst/>
          </a:prstGeom>
          <a:solidFill>
            <a:srgbClr val="0D2A52"/>
          </a:solidFill>
          <a:ln w="12700">
            <a:solidFill>
              <a:srgbClr val="0D2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FF8EF3-6A4D-801E-B255-BC483016E4AB}"/>
              </a:ext>
            </a:extLst>
          </p:cNvPr>
          <p:cNvSpPr txBox="1"/>
          <p:nvPr/>
        </p:nvSpPr>
        <p:spPr>
          <a:xfrm>
            <a:off x="9525000" y="6070600"/>
            <a:ext cx="1397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FFFFFF"/>
                </a:solidFill>
                <a:latin typeface="Aptos" panose="020B0004020202020204" pitchFamily="34" charset="0"/>
              </a:rPr>
              <a:t>END OF UPDATE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E61535-138F-C5A5-6649-FE408579FCE3}"/>
              </a:ext>
            </a:extLst>
          </p:cNvPr>
          <p:cNvSpPr txBox="1"/>
          <p:nvPr/>
        </p:nvSpPr>
        <p:spPr>
          <a:xfrm>
            <a:off x="609600" y="6553200"/>
            <a:ext cx="825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 b="1">
                <a:solidFill>
                  <a:srgbClr val="66768A"/>
                </a:solidFill>
                <a:latin typeface="Aptos" panose="020B0004020202020204" pitchFamily="34" charset="0"/>
              </a:rPr>
              <a:t>VILLA GROUP OF COMPANIES  â€¢  INTERNAL MANAGEMENT UPDATE</a:t>
            </a:r>
            <a:endParaRPr lang="en-PH" sz="800" b="1">
              <a:solidFill>
                <a:srgbClr val="66768A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D1D5D4-7699-9364-3703-2F53B65A6C3B}"/>
              </a:ext>
            </a:extLst>
          </p:cNvPr>
          <p:cNvSpPr txBox="1"/>
          <p:nvPr/>
        </p:nvSpPr>
        <p:spPr>
          <a:xfrm>
            <a:off x="11226800" y="6515100"/>
            <a:ext cx="3556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900" b="1">
                <a:solidFill>
                  <a:srgbClr val="66768A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244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Microsoft Office PowerPoint</Application>
  <PresentationFormat>On-screen Show (16:10)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 Department</dc:creator>
  <cp:lastModifiedBy>IT Department</cp:lastModifiedBy>
  <cp:revision>1</cp:revision>
  <dcterms:created xsi:type="dcterms:W3CDTF">2026-10-16T02:13:22Z</dcterms:created>
  <dcterms:modified xsi:type="dcterms:W3CDTF">2026-10-16T02:13:22Z</dcterms:modified>
</cp:coreProperties>
</file>